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a6a0888a87f4973" /><Relationship Type="http://schemas.openxmlformats.org/officeDocument/2006/relationships/extended-properties" Target="/docProps/app.xml" Id="Re3d849bfe172493c" /><Relationship Type="http://schemas.openxmlformats.org/officeDocument/2006/relationships/officeDocument" Target="/ppt/presentation.xml" Id="R14554502052747bd" /></Relationships>
</file>

<file path=ppt/presentation.xml><?xml version="1.0" encoding="utf-8"?>
<p:presentation xmlns:p="http://schemas.openxmlformats.org/presentationml/2006/main">
  <p:sldMasterIdLst>
    <p:sldMasterId xmlns:r="http://schemas.openxmlformats.org/officeDocument/2006/relationships" id="2147483648" r:id="R2822e39554cb4a52"/>
  </p:sldMasterIdLst>
  <p:notesMasterIdLst>
    <p:notesMasterId xmlns:r="http://schemas.openxmlformats.org/officeDocument/2006/relationships" r:id="R8a496ca6e97d4e98"/>
  </p:notesMasterIdLst>
  <p:sldIdLst>
    <p:sldId xmlns:r="http://schemas.openxmlformats.org/officeDocument/2006/relationships" id="256" r:id="R3a657c3fc45f4682"/>
    <p:sldId xmlns:r="http://schemas.openxmlformats.org/officeDocument/2006/relationships" id="257" r:id="R589623ac1df64b85"/>
    <p:sldId xmlns:r="http://schemas.openxmlformats.org/officeDocument/2006/relationships" id="258" r:id="R23ae76623bd749b8"/>
    <p:sldId xmlns:r="http://schemas.openxmlformats.org/officeDocument/2006/relationships" id="259" r:id="Rdebe163052814206"/>
    <p:sldId xmlns:r="http://schemas.openxmlformats.org/officeDocument/2006/relationships" id="260" r:id="Reab47819e4fa4d4f"/>
    <p:sldId xmlns:r="http://schemas.openxmlformats.org/officeDocument/2006/relationships" id="261" r:id="R8897341bd75c4bbf"/>
    <p:sldId xmlns:r="http://schemas.openxmlformats.org/officeDocument/2006/relationships" id="262" r:id="R31e16eefa8e148f6"/>
    <p:sldId xmlns:r="http://schemas.openxmlformats.org/officeDocument/2006/relationships" id="263" r:id="Rbbc7d52b86cd4226"/>
    <p:sldId xmlns:r="http://schemas.openxmlformats.org/officeDocument/2006/relationships" id="264" r:id="R0dadfd4ddfe5460f"/>
    <p:sldId xmlns:r="http://schemas.openxmlformats.org/officeDocument/2006/relationships" id="265" r:id="Rb24a57b5e58a4351"/>
    <p:sldId xmlns:r="http://schemas.openxmlformats.org/officeDocument/2006/relationships" id="266" r:id="Ra35da2842152429c"/>
    <p:sldId xmlns:r="http://schemas.openxmlformats.org/officeDocument/2006/relationships" id="267" r:id="R2559a61894de4ca0"/>
    <p:sldId xmlns:r="http://schemas.openxmlformats.org/officeDocument/2006/relationships" id="268" r:id="R1b0e9262475d4f2e"/>
    <p:sldId xmlns:r="http://schemas.openxmlformats.org/officeDocument/2006/relationships" id="269" r:id="R26ee555a0d914f0c"/>
    <p:sldId xmlns:r="http://schemas.openxmlformats.org/officeDocument/2006/relationships" id="270" r:id="Rf68eaba9ae974c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6bf767f0b043b7" /><Relationship Type="http://schemas.openxmlformats.org/officeDocument/2006/relationships/slideMaster" Target="/ppt/slideMasters/slideMaster1.xml" Id="R2822e39554cb4a52" /><Relationship Type="http://schemas.openxmlformats.org/officeDocument/2006/relationships/notesMaster" Target="/ppt/notesMasters/notesMaster1.xml" Id="R8a496ca6e97d4e98" /><Relationship Type="http://schemas.openxmlformats.org/officeDocument/2006/relationships/presProps" Target="/ppt/presProps.xml" Id="Re9368d63eed84fb3" /><Relationship Type="http://schemas.openxmlformats.org/officeDocument/2006/relationships/tableStyles" Target="/ppt/tableStyles.xml" Id="R3d4f087ffaad4465" /><Relationship Type="http://schemas.openxmlformats.org/officeDocument/2006/relationships/slide" Target="/ppt/slides/slide1.xml" Id="R3a657c3fc45f4682" /><Relationship Type="http://schemas.openxmlformats.org/officeDocument/2006/relationships/slide" Target="/ppt/slides/slide2.xml" Id="R589623ac1df64b85" /><Relationship Type="http://schemas.openxmlformats.org/officeDocument/2006/relationships/slide" Target="/ppt/slides/slide3.xml" Id="R23ae76623bd749b8" /><Relationship Type="http://schemas.openxmlformats.org/officeDocument/2006/relationships/slide" Target="/ppt/slides/slide4.xml" Id="Rdebe163052814206" /><Relationship Type="http://schemas.openxmlformats.org/officeDocument/2006/relationships/slide" Target="/ppt/slides/slide5.xml" Id="Reab47819e4fa4d4f" /><Relationship Type="http://schemas.openxmlformats.org/officeDocument/2006/relationships/slide" Target="/ppt/slides/slide6.xml" Id="R8897341bd75c4bbf" /><Relationship Type="http://schemas.openxmlformats.org/officeDocument/2006/relationships/slide" Target="/ppt/slides/slide7.xml" Id="R31e16eefa8e148f6" /><Relationship Type="http://schemas.openxmlformats.org/officeDocument/2006/relationships/slide" Target="/ppt/slides/slide8.xml" Id="Rbbc7d52b86cd4226" /><Relationship Type="http://schemas.openxmlformats.org/officeDocument/2006/relationships/slide" Target="/ppt/slides/slide9.xml" Id="R0dadfd4ddfe5460f" /><Relationship Type="http://schemas.openxmlformats.org/officeDocument/2006/relationships/slide" Target="/ppt/slides/slide10.xml" Id="Rb24a57b5e58a4351" /><Relationship Type="http://schemas.openxmlformats.org/officeDocument/2006/relationships/slide" Target="/ppt/slides/slide11.xml" Id="Ra35da2842152429c" /><Relationship Type="http://schemas.openxmlformats.org/officeDocument/2006/relationships/slide" Target="/ppt/slides/slide12.xml" Id="R2559a61894de4ca0" /><Relationship Type="http://schemas.openxmlformats.org/officeDocument/2006/relationships/slide" Target="/ppt/slides/slide13.xml" Id="R1b0e9262475d4f2e" /><Relationship Type="http://schemas.openxmlformats.org/officeDocument/2006/relationships/slide" Target="/ppt/slides/slide14.xml" Id="R26ee555a0d914f0c" /><Relationship Type="http://schemas.openxmlformats.org/officeDocument/2006/relationships/slide" Target="/ppt/slides/slide15.xml" Id="Rf68eaba9ae974c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ba955e164a41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831c5ec6194745" /><Relationship Type="http://schemas.openxmlformats.org/officeDocument/2006/relationships/notesMaster" Target="/ppt/notesMasters/notesMaster1.xml" Id="R903d4e3f876943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cf423b73d0b4019" /><Relationship Type="http://schemas.openxmlformats.org/officeDocument/2006/relationships/notesMaster" Target="/ppt/notesMasters/notesMaster1.xml" Id="Rc04f233bd6c541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a7658d720e49fc" /><Relationship Type="http://schemas.openxmlformats.org/officeDocument/2006/relationships/notesMaster" Target="/ppt/notesMasters/notesMaster1.xml" Id="R877a28fa76a643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dee7a4cafb4e35" /><Relationship Type="http://schemas.openxmlformats.org/officeDocument/2006/relationships/notesMaster" Target="/ppt/notesMasters/notesMaster1.xml" Id="R0d09af17a17447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6735b68bce42fe" /><Relationship Type="http://schemas.openxmlformats.org/officeDocument/2006/relationships/notesMaster" Target="/ppt/notesMasters/notesMaster1.xml" Id="Rb06a2c1dca9240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1179cb335c4497" /><Relationship Type="http://schemas.openxmlformats.org/officeDocument/2006/relationships/notesMaster" Target="/ppt/notesMasters/notesMaster1.xml" Id="R078ef66c11354f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8a542bc9e54522" /><Relationship Type="http://schemas.openxmlformats.org/officeDocument/2006/relationships/notesMaster" Target="/ppt/notesMasters/notesMaster1.xml" Id="Rca995d10a1c844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c4ed59f7004ec0" /><Relationship Type="http://schemas.openxmlformats.org/officeDocument/2006/relationships/notesMaster" Target="/ppt/notesMasters/notesMaster1.xml" Id="Rae76ccea904148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f7bb10b8be744d4" /><Relationship Type="http://schemas.openxmlformats.org/officeDocument/2006/relationships/notesMaster" Target="/ppt/notesMasters/notesMaster1.xml" Id="R41331b18501e43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b29466fa87149a0" /><Relationship Type="http://schemas.openxmlformats.org/officeDocument/2006/relationships/notesMaster" Target="/ppt/notesMasters/notesMaster1.xml" Id="R97d0f43e00eb43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5a2668bbc04403" /><Relationship Type="http://schemas.openxmlformats.org/officeDocument/2006/relationships/notesMaster" Target="/ppt/notesMasters/notesMaster1.xml" Id="R14ba3f820aef4aa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18dc846b850496d" /><Relationship Type="http://schemas.openxmlformats.org/officeDocument/2006/relationships/notesMaster" Target="/ppt/notesMasters/notesMaster1.xml" Id="R917e1cc5042f41a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77e6b2be834cb5" /><Relationship Type="http://schemas.openxmlformats.org/officeDocument/2006/relationships/notesMaster" Target="/ppt/notesMasters/notesMaster1.xml" Id="R074542f662514af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cdf763a76944a8d" /><Relationship Type="http://schemas.openxmlformats.org/officeDocument/2006/relationships/notesMaster" Target="/ppt/notesMasters/notesMaster1.xml" Id="R141f36bf92e9444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a99cd052704352" /><Relationship Type="http://schemas.openxmlformats.org/officeDocument/2006/relationships/notesMaster" Target="/ppt/notesMasters/notesMaster1.xml" Id="R3202f23145e645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the project. State that the model predicts activity in 12 Tox21 pathway assays from a SMILES string. Clarify that this is an educational early-screening model, not a clinical toxicity decision tool. Cover image was generated for this presentation using OpenAI image generation and carries no factual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map of the talk. The project starts with a SMILES string and returns 12 assay-specific probabilities. The main scientific question is whether sharing information among assays improves performance over separate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role of computation as a prioritisation layer. Laboratory assays remain necessary. The machine-learning problem is multi-label and partially labelled because each molecule may have several activities and many assay entries are blank.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Tox21/MoleculeNet CSV contained 7,831 rows. RDKit rejected eight SMILES, leaving 7,823 valid molecules. Explain the two assay families. Source: Huang et al. 2016; MoleculeNet; project results/data_summary.json.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progression from experimental testing to computational prediction. The fair comparison in this project is the single-task logistic baseline, not every published toxicity model. Source: project methodology and Huang et al. 2016.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end-to-end pipeline from left to right. Emphasise that the validation set selects the model and the test set is used only for the final reported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ECFP4 encodes substructure presence while the eight descriptors provide global physicochemical information. The StandardScaler fits only on training descriptors to avoid data leakage. RDKit calculates all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shared representation learning. All 12 tasks use the same feature extractor but have separate output neurons. Architecture: 2056 to 256 to 128 to 12, ReLU activations, batch normalisation and dropout.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two central technical decisions: label masking and per-task class weighting. The scaffold split holds related cores together, making the test harder and closer to prediction on new chemistry. Training completed 13 epochs and saved the checkpoint with the best validation mean ROC-AUC.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multi-task model achieved mean ROC-AUC 0.741 and mean PR-AUC 0.342. The single-task logistic baseline achieved 0.716 and 0.307. State the absolute improvements, not percentages. Source: results/metrics_scaffold.csv.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that multi-task learning helps 9 of 12 assays but not all of them. The baseline remains stronger for NR-AR, NR-AR-LBD and NR-Aromatase, which may indicate negative transfer or limited task-specific signal. Source: results/metrics_scaffold.csv.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precise wording. The project demonstrates better average performance than its controlled baseline on one scaffold split. It does not prove superiority to every published Tox21 system or to laboratory assays.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app live if time permits. The example values shown here come from the saved scaffold model for aspirin. Explain the nearest-neighbour similarity warning. Do not interpret the probabilities as organ toxicity or patient risk. Source: app.py and saved model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with the measured contribution and the limitations. Future work could test graph neural networks, calibration and external datasets, but the present project already provides a complete reproducible baseline-to-app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DOI links: Huang et al. https://doi.org/10.3389/fenvs.2015.00085; MoleculeNet https://doi.org/10.1039/C7SC02664A. Tox21 official challenge page: https://tripod.nih.gov/tox21/challenge/data.jsp. RDKit: https://www.rdkit.org/. PyTorch: https://pytorch.org/. Streamlit: https://docs.streamlit.io/.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5172a529e741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19abc779cd4e82" /><Relationship Type="http://schemas.openxmlformats.org/officeDocument/2006/relationships/slideLayout" Target="/ppt/slideLayouts/slideLayout1.xml" Id="R5126dec5e3d54a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26dec5e3d54a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a95efb632d4979" /><Relationship Type="http://schemas.openxmlformats.org/officeDocument/2006/relationships/image" Target="/ppt/media/image.png" Id="R45e26e089d4a4b2f" /><Relationship Type="http://schemas.openxmlformats.org/officeDocument/2006/relationships/notesSlide" Target="/ppt/notesSlides/notesSlide1.xml" Id="R68252fc4eaf649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36a3bc47f14191" /><Relationship Type="http://schemas.openxmlformats.org/officeDocument/2006/relationships/notesSlide" Target="/ppt/notesSlides/notesSlide2.xml" Id="Re25283ee69174b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bf0de92f7b49c1" /><Relationship Type="http://schemas.openxmlformats.org/officeDocument/2006/relationships/notesSlide" Target="/ppt/notesSlides/notesSlide3.xml" Id="R37d09bdb5d8746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0ff0ef0e84c4380" /><Relationship Type="http://schemas.openxmlformats.org/officeDocument/2006/relationships/notesSlide" Target="/ppt/notesSlides/notesSlide4.xml" Id="R73144587dd8145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2c3bbe2e9b4c01" /><Relationship Type="http://schemas.openxmlformats.org/officeDocument/2006/relationships/notesSlide" Target="/ppt/notesSlides/notesSlide5.xml" Id="Rc0defbbeb34c4e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be6b38577b4b56" /><Relationship Type="http://schemas.openxmlformats.org/officeDocument/2006/relationships/notesSlide" Target="/ppt/notesSlides/notesSlide6.xml" Id="R276e0e3cf27347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929acc8f22c4191" /><Relationship Type="http://schemas.openxmlformats.org/officeDocument/2006/relationships/notesSlide" Target="/ppt/notesSlides/notesSlide7.xml" Id="R2695e23131e544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cfd431f75a24508" /><Relationship Type="http://schemas.openxmlformats.org/officeDocument/2006/relationships/notesSlide" Target="/ppt/notesSlides/notesSlide8.xml" Id="R04aa3a19df0a47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289f4f3ca4e4c2f" /><Relationship Type="http://schemas.openxmlformats.org/officeDocument/2006/relationships/notesSlide" Target="/ppt/notesSlides/notesSlide9.xml" Id="R6411a17e616743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6adaa27b3a4588" /><Relationship Type="http://schemas.openxmlformats.org/officeDocument/2006/relationships/chart" Target="/ppt/slides/charts/chart1.xml" Id="Rc8d35a7a13e44ebb" /><Relationship Type="http://schemas.openxmlformats.org/officeDocument/2006/relationships/notesSlide" Target="/ppt/notesSlides/notesSlide10.xml" Id="Re66000e4836d416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46b3fd254ce4b65" /><Relationship Type="http://schemas.openxmlformats.org/officeDocument/2006/relationships/chart" Target="/ppt/slides/charts/chart2.xml" Id="R0db4258f1e4947f8" /><Relationship Type="http://schemas.openxmlformats.org/officeDocument/2006/relationships/notesSlide" Target="/ppt/notesSlides/notesSlide11.xml" Id="Rdbd8fe5f331341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63c7537838c4e42" /><Relationship Type="http://schemas.openxmlformats.org/officeDocument/2006/relationships/notesSlide" Target="/ppt/notesSlides/notesSlide12.xml" Id="R134cc2c33b884c4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f18fb48f34e404a" /><Relationship Type="http://schemas.openxmlformats.org/officeDocument/2006/relationships/chart" Target="/ppt/slides/charts/chart3.xml" Id="Rfa5d1f715f454d24" /><Relationship Type="http://schemas.openxmlformats.org/officeDocument/2006/relationships/notesSlide" Target="/ppt/notesSlides/notesSlide13.xml" Id="Rcbe21454ca1f4a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eedae2709094b57" /><Relationship Type="http://schemas.openxmlformats.org/officeDocument/2006/relationships/notesSlide" Target="/ppt/notesSlides/notesSlide14.xml" Id="Rc2518bf75a95494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48dc75d4f684d57" /><Relationship Type="http://schemas.openxmlformats.org/officeDocument/2006/relationships/notesSlide" Target="/ppt/notesSlides/notesSlide15.xml" Id="R4e3055e0ef20414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Single-task logistic</c:v>
          </c:tx>
          <c:spPr>
            <a:solidFill xmlns:a="http://schemas.openxmlformats.org/drawingml/2006/main">
              <a:srgbClr val="5F7181"/>
            </a:solidFill>
          </c:spPr>
          <c:cat>
            <c:strRef>
              <c:f>'Chart Data'!$A$2:$A$3</c:f>
              <c:strCache>
                <c:ptCount val="2"/>
                <c:pt idx="0">
                  <c:v>Mean ROC-AUC</c:v>
                </c:pt>
                <c:pt idx="1">
                  <c:v>Mean PR-AUC</c:v>
                </c:pt>
              </c:strCache>
            </c:strRef>
          </c:cat>
          <c:val>
            <c:numRef>
              <c:f>'Chart Data'!$B$2:$B$3</c:f>
              <c:numCache>
                <c:formatCode>0.00</c:formatCode>
                <c:ptCount val="2"/>
                <c:pt idx="0">
                  <c:v>0.7162621</c:v>
                </c:pt>
                <c:pt idx="1">
                  <c:v>0.3067836</c:v>
                </c:pt>
              </c:numCache>
            </c:numRef>
          </c:val>
        </c:ser>
        <c:ser>
          <c:idx val="1"/>
          <c:order val="1"/>
          <c:tx>
            <c:v>Multi-task MLP</c:v>
          </c:tx>
          <c:spPr>
            <a:solidFill xmlns:a="http://schemas.openxmlformats.org/drawingml/2006/main">
              <a:srgbClr val="0F9D8A"/>
            </a:solidFill>
          </c:spPr>
          <c:cat>
            <c:strRef>
              <c:f>'Chart Data'!$C$2:$C$3</c:f>
              <c:strCache>
                <c:ptCount val="2"/>
                <c:pt idx="0">
                  <c:v>Mean ROC-AUC</c:v>
                </c:pt>
                <c:pt idx="1">
                  <c:v>Mean PR-AUC</c:v>
                </c:pt>
              </c:strCache>
            </c:strRef>
          </c:cat>
          <c:val>
            <c:numRef>
              <c:f>'Chart Data'!$D$2:$D$3</c:f>
              <c:numCache>
                <c:formatCode>0.00</c:formatCode>
                <c:ptCount val="2"/>
                <c:pt idx="0">
                  <c:v>0.7411691</c:v>
                </c:pt>
                <c:pt idx="1">
                  <c:v>0.3415235</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1226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2E8"/>
            </a:solidFill>
            <a:prstDash val="solid"/>
          </a:ln>
        </c:spPr>
        <c:txPr>
          <a:bodyPr xmlns:a="http://schemas.openxmlformats.org/drawingml/2006/main" anchorCtr="1"/>
          <a:lstStyle xmlns:a="http://schemas.openxmlformats.org/drawingml/2006/main"/>
          <a:p xmlns:a="http://schemas.openxmlformats.org/drawingml/2006/main">
            <a:pPr>
              <a:defRPr sz="1275">
                <a:solidFill>
                  <a:srgbClr val="122638"/>
                </a:solidFill>
                <a:latin typeface="Helvetica Neue"/>
                <a:ea typeface="Helvetica Neue"/>
                <a:cs typeface="Helvetica Neue"/>
              </a:defRPr>
            </a:pPr>
          </a:p>
        </c:txPr>
        <c:crossAx val="48672768"/>
      </c:catAx>
      <c:valAx>
        <c:axId val="48672768"/>
        <c:scaling>
          <c:orientation val="minMax"/>
          <c:max val="0.9"/>
          <c:min val="0"/>
        </c:scaling>
        <c:delete val="0"/>
        <c:axPos val="l"/>
        <c:majorGridlines>
          <c:spPr>
            <a:ln xmlns:a="http://schemas.openxmlformats.org/drawingml/2006/main" w="9525">
              <a:solidFill>
                <a:srgbClr val="D9E2E8"/>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7181"/>
                </a:solidFill>
                <a:latin typeface="Helvetica Neue"/>
                <a:ea typeface="Helvetica Neue"/>
                <a:cs typeface="Helvetica Neue"/>
              </a:defRPr>
            </a:pPr>
          </a:p>
        </c:txPr>
        <c:crossAx val="48650112"/>
        <c:crossBetween val="between"/>
        <c:majorUnit val="0.1"/>
      </c:valAx>
      <c:spPr>
        <a:solidFill xmlns:a="http://schemas.openxmlformats.org/drawingml/2006/main">
          <a:srgbClr val="FFFFFF"/>
        </a:solidFill>
        <a:ln xmlns:a="http://schemas.openxmlformats.org/drawingml/2006/main" w="0">
          <a:solidFill>
            <a:srgbClr val="FFFFFF"/>
          </a:solid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22638"/>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solidFill>
        <a:srgbClr val="FFFFFF"/>
      </a:solid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Single-task logistic</c:v>
          </c:tx>
          <c:spPr>
            <a:solidFill xmlns:a="http://schemas.openxmlformats.org/drawingml/2006/main">
              <a:srgbClr val="5F7181"/>
            </a:solidFill>
          </c:spPr>
          <c:cat>
            <c:strRef>
              <c:f>'Chart Data'!$A$2:$A$13</c:f>
              <c:strCache>
                <c:ptCount val="12"/>
                <c:pt idx="0">
                  <c:v>NR-AR</c:v>
                </c:pt>
                <c:pt idx="1">
                  <c:v>NR-AR-LBD</c:v>
                </c:pt>
                <c:pt idx="2">
                  <c:v>NR-AhR</c:v>
                </c:pt>
                <c:pt idx="3">
                  <c:v>NR-Aromatase</c:v>
                </c:pt>
                <c:pt idx="4">
                  <c:v>NR-ER</c:v>
                </c:pt>
                <c:pt idx="5">
                  <c:v>NR-ER-LBD</c:v>
                </c:pt>
                <c:pt idx="6">
                  <c:v>NR-PPAR-gamma</c:v>
                </c:pt>
                <c:pt idx="7">
                  <c:v>SR-ARE</c:v>
                </c:pt>
                <c:pt idx="8">
                  <c:v>SR-ATAD5</c:v>
                </c:pt>
                <c:pt idx="9">
                  <c:v>SR-HSE</c:v>
                </c:pt>
                <c:pt idx="10">
                  <c:v>SR-MMP</c:v>
                </c:pt>
                <c:pt idx="11">
                  <c:v>SR-p53</c:v>
                </c:pt>
              </c:strCache>
            </c:strRef>
          </c:cat>
          <c:val>
            <c:numRef>
              <c:f>'Chart Data'!$B$2:$B$13</c:f>
              <c:numCache>
                <c:formatCode>General</c:formatCode>
                <c:ptCount val="12"/>
                <c:pt idx="0">
                  <c:v>0.724881</c:v>
                </c:pt>
                <c:pt idx="1">
                  <c:v>0.869024</c:v>
                </c:pt>
                <c:pt idx="2">
                  <c:v>0.787051</c:v>
                </c:pt>
                <c:pt idx="3">
                  <c:v>0.715189</c:v>
                </c:pt>
                <c:pt idx="4">
                  <c:v>0.610762</c:v>
                </c:pt>
                <c:pt idx="5">
                  <c:v>0.71486</c:v>
                </c:pt>
                <c:pt idx="6">
                  <c:v>0.680043</c:v>
                </c:pt>
                <c:pt idx="7">
                  <c:v>0.672265</c:v>
                </c:pt>
                <c:pt idx="8">
                  <c:v>0.687044</c:v>
                </c:pt>
                <c:pt idx="9">
                  <c:v>0.667451</c:v>
                </c:pt>
                <c:pt idx="10">
                  <c:v>0.773743</c:v>
                </c:pt>
                <c:pt idx="11">
                  <c:v>0.692832</c:v>
                </c:pt>
              </c:numCache>
            </c:numRef>
          </c:val>
        </c:ser>
        <c:ser>
          <c:idx val="1"/>
          <c:order val="1"/>
          <c:tx>
            <c:v>Multi-task MLP</c:v>
          </c:tx>
          <c:spPr>
            <a:solidFill xmlns:a="http://schemas.openxmlformats.org/drawingml/2006/main">
              <a:srgbClr val="0F9D8A"/>
            </a:solidFill>
          </c:spPr>
          <c:cat>
            <c:strRef>
              <c:f>'Chart Data'!$C$2:$C$13</c:f>
              <c:strCache>
                <c:ptCount val="12"/>
                <c:pt idx="0">
                  <c:v>NR-AR</c:v>
                </c:pt>
                <c:pt idx="1">
                  <c:v>NR-AR-LBD</c:v>
                </c:pt>
                <c:pt idx="2">
                  <c:v>NR-AhR</c:v>
                </c:pt>
                <c:pt idx="3">
                  <c:v>NR-Aromatase</c:v>
                </c:pt>
                <c:pt idx="4">
                  <c:v>NR-ER</c:v>
                </c:pt>
                <c:pt idx="5">
                  <c:v>NR-ER-LBD</c:v>
                </c:pt>
                <c:pt idx="6">
                  <c:v>NR-PPAR-gamma</c:v>
                </c:pt>
                <c:pt idx="7">
                  <c:v>SR-ARE</c:v>
                </c:pt>
                <c:pt idx="8">
                  <c:v>SR-ATAD5</c:v>
                </c:pt>
                <c:pt idx="9">
                  <c:v>SR-HSE</c:v>
                </c:pt>
                <c:pt idx="10">
                  <c:v>SR-MMP</c:v>
                </c:pt>
                <c:pt idx="11">
                  <c:v>SR-p53</c:v>
                </c:pt>
              </c:strCache>
            </c:strRef>
          </c:cat>
          <c:val>
            <c:numRef>
              <c:f>'Chart Data'!$D$2:$D$13</c:f>
              <c:numCache>
                <c:formatCode>General</c:formatCode>
                <c:ptCount val="12"/>
                <c:pt idx="0">
                  <c:v>0.716874</c:v>
                </c:pt>
                <c:pt idx="1">
                  <c:v>0.825846</c:v>
                </c:pt>
                <c:pt idx="2">
                  <c:v>0.829625</c:v>
                </c:pt>
                <c:pt idx="3">
                  <c:v>0.679087</c:v>
                </c:pt>
                <c:pt idx="4">
                  <c:v>0.652099</c:v>
                </c:pt>
                <c:pt idx="5">
                  <c:v>0.735767</c:v>
                </c:pt>
                <c:pt idx="6">
                  <c:v>0.768988</c:v>
                </c:pt>
                <c:pt idx="7">
                  <c:v>0.686069</c:v>
                </c:pt>
                <c:pt idx="8">
                  <c:v>0.711688</c:v>
                </c:pt>
                <c:pt idx="9">
                  <c:v>0.753059</c:v>
                </c:pt>
                <c:pt idx="10">
                  <c:v>0.807037</c:v>
                </c:pt>
                <c:pt idx="11">
                  <c:v>0.72789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majorGridlines>
          <c:spPr>
            <a:ln xmlns:a="http://schemas.openxmlformats.org/drawingml/2006/main" w="9525">
              <a:solidFill>
                <a:srgbClr val="D9E2E8"/>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F7181"/>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E2E8"/>
            </a:solidFill>
            <a:prstDash val="solid"/>
          </a:ln>
        </c:spPr>
        <c:txPr>
          <a:bodyPr xmlns:a="http://schemas.openxmlformats.org/drawingml/2006/main" anchorCtr="1"/>
          <a:lstStyle xmlns:a="http://schemas.openxmlformats.org/drawingml/2006/main"/>
          <a:p xmlns:a="http://schemas.openxmlformats.org/drawingml/2006/main">
            <a:pPr>
              <a:defRPr sz="900">
                <a:solidFill>
                  <a:srgbClr val="122638"/>
                </a:solidFill>
                <a:latin typeface="Helvetica Neue"/>
                <a:ea typeface="Helvetica Neue"/>
                <a:cs typeface="Helvetica Neue"/>
              </a:defRPr>
            </a:pPr>
          </a:p>
        </c:txPr>
        <c:crossAx val="48650112"/>
        <c:crossBetween val="between"/>
      </c:valAx>
      <c:spPr>
        <a:solidFill xmlns:a="http://schemas.openxmlformats.org/drawingml/2006/main">
          <a:srgbClr val="F4F7FA"/>
        </a:solidFill>
        <a:ln xmlns:a="http://schemas.openxmlformats.org/drawingml/2006/main" w="0">
          <a:solidFill>
            <a:srgbClr val="F4F7FA"/>
          </a:solidFill>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122638"/>
              </a:solidFill>
              <a:latin typeface="Helvetica Neue"/>
              <a:ea typeface="Helvetica Neue"/>
              <a:cs typeface="Helvetica Neue"/>
            </a:defRPr>
          </a:pPr>
        </a:p>
      </c:txPr>
    </c:legend>
    <c:plotVisOnly val="1"/>
  </c:chart>
  <c:spPr>
    <a:solidFill xmlns:a="http://schemas.openxmlformats.org/drawingml/2006/main">
      <a:srgbClr val="F4F7FA"/>
    </a:solidFill>
    <a:ln xmlns:a="http://schemas.openxmlformats.org/drawingml/2006/main" w="0">
      <a:solidFill>
        <a:srgbClr val="F4F7FA"/>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Aspirin example probability</c:v>
          </c:tx>
          <c:spPr>
            <a:solidFill xmlns:a="http://schemas.openxmlformats.org/drawingml/2006/main">
              <a:srgbClr val="0F9D8A"/>
            </a:solidFill>
          </c:spPr>
          <c:cat>
            <c:strRef>
              <c:f>'Chart Data'!$A$2:$A$5</c:f>
              <c:strCache>
                <c:ptCount val="4"/>
                <c:pt idx="0">
                  <c:v>NR-ER</c:v>
                </c:pt>
                <c:pt idx="1">
                  <c:v>NR-PPAR-gamma</c:v>
                </c:pt>
                <c:pt idx="2">
                  <c:v>SR-HSE</c:v>
                </c:pt>
                <c:pt idx="3">
                  <c:v>SR-ATAD5</c:v>
                </c:pt>
              </c:strCache>
            </c:strRef>
          </c:cat>
          <c:val>
            <c:numRef>
              <c:f>'Chart Data'!$B$2:$B$5</c:f>
              <c:numCache>
                <c:formatCode>General</c:formatCode>
                <c:ptCount val="4"/>
                <c:pt idx="0">
                  <c:v>0.3814</c:v>
                </c:pt>
                <c:pt idx="1">
                  <c:v>0.3741</c:v>
                </c:pt>
                <c:pt idx="2">
                  <c:v>0.3619</c:v>
                </c:pt>
                <c:pt idx="3">
                  <c:v>0.3322</c:v>
                </c:pt>
              </c:numCache>
            </c:numRef>
          </c:val>
        </c:ser>
        <c:dLbls>
          <c:txPr>
            <a:bodyPr xmlns:a="http://schemas.openxmlformats.org/drawingml/2006/main" anchorCtr="1"/>
            <a:lstStyle xmlns:a="http://schemas.openxmlformats.org/drawingml/2006/main"/>
            <a:p xmlns:a="http://schemas.openxmlformats.org/drawingml/2006/main">
              <a:pPr>
                <a:defRPr sz="975" b="1">
                  <a:solidFill>
                    <a:srgbClr val="1226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9E2E8"/>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F7181"/>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E2E8"/>
            </a:solidFill>
            <a:prstDash val="solid"/>
          </a:ln>
        </c:spPr>
        <c:txPr>
          <a:bodyPr xmlns:a="http://schemas.openxmlformats.org/drawingml/2006/main" anchorCtr="1"/>
          <a:lstStyle xmlns:a="http://schemas.openxmlformats.org/drawingml/2006/main"/>
          <a:p xmlns:a="http://schemas.openxmlformats.org/drawingml/2006/main">
            <a:pPr>
              <a:defRPr sz="975">
                <a:solidFill>
                  <a:srgbClr val="122638"/>
                </a:solidFill>
                <a:latin typeface="Helvetica Neue"/>
                <a:ea typeface="Helvetica Neue"/>
                <a:cs typeface="Helvetica Neue"/>
              </a:defRPr>
            </a:pPr>
          </a:p>
        </c:txPr>
        <c:crossAx val="48650112"/>
        <c:crossBetween val="between"/>
      </c:valAx>
      <c:spPr>
        <a:solidFill xmlns:a="http://schemas.openxmlformats.org/drawingml/2006/main">
          <a:srgbClr val="F4F7FA"/>
        </a:solidFill>
        <a:ln xmlns:a="http://schemas.openxmlformats.org/drawingml/2006/main" w="0">
          <a:solidFill>
            <a:srgbClr val="F4F7FA"/>
          </a:solidFill>
        </a:ln>
      </c:spPr>
    </c:plotArea>
    <c:plotVisOnly val="1"/>
  </c:chart>
  <c:spPr>
    <a:solidFill xmlns:a="http://schemas.openxmlformats.org/drawingml/2006/main">
      <a:srgbClr val="F4F7FA"/>
    </a:solidFill>
    <a:ln xmlns:a="http://schemas.openxmlformats.org/drawingml/2006/main" w="0">
      <a:solidFill>
        <a:srgbClr val="F4F7FA"/>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F33"/>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5e26e089d4a4b2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378D927-7332-4046-9F23-7291AD41E692}"/>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071F33">
              <a:alpha val="80000"/>
            </a:srgbClr>
          </a:solidFill>
          <a:ln xmlns:a="http://schemas.openxmlformats.org/drawingml/2006/main" w="9525">
            <a:solidFill>
              <a:srgbClr val="071F33">
                <a:alpha val="80000"/>
              </a:srgbClr>
            </a:solidFill>
          </a:ln>
        </p:spPr>
      </p:sp>
      <p:sp>
        <p:nvSpPr>
          <p:cNvPr id="3" name="">
            <a:extLst xmlns:a="http://schemas.openxmlformats.org/drawingml/2006/main">
              <a:ext uri="{FF2B5EF4-FFF2-40B4-BE49-F238E27FC236}">
                <a16:creationId xmlns:a16="http://schemas.microsoft.com/office/drawing/2014/main" id="{5F4771A3-7ED0-4044-A371-F07E219CE5BE}"/>
              </a:ext>
            </a:extLst>
          </p:cNvPr>
          <p:cNvSpPr>
            <a:spLocks xmlns:a="http://schemas.openxmlformats.org/drawingml/2006/main" noGrp="1"/>
          </p:cNvSpPr>
          <p:nvPr/>
        </p:nvSpPr>
        <p:spPr>
          <a:xfrm xmlns:a="http://schemas.openxmlformats.org/drawingml/2006/main">
            <a:off x="685800" y="1381125"/>
            <a:ext cx="5334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Multi-Task Prediction of</a:t>
            </a:r>
          </a:p>
          <a:p xmlns:a="http://schemas.openxmlformats.org/drawingml/2006/main">
            <a:pPr algn="l">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Tox21 Assay Activity</a:t>
            </a:r>
          </a:p>
        </p:txBody>
      </p:sp>
      <p:sp>
        <p:nvSpPr>
          <p:cNvPr id="4" name="">
            <a:extLst xmlns:a="http://schemas.openxmlformats.org/drawingml/2006/main">
              <a:ext uri="{FF2B5EF4-FFF2-40B4-BE49-F238E27FC236}">
                <a16:creationId xmlns:a16="http://schemas.microsoft.com/office/drawing/2014/main" id="{786F4911-FF14-41F8-A495-94D50145E1EA}"/>
              </a:ext>
            </a:extLst>
          </p:cNvPr>
          <p:cNvSpPr>
            <a:spLocks xmlns:a="http://schemas.openxmlformats.org/drawingml/2006/main" noGrp="1"/>
          </p:cNvSpPr>
          <p:nvPr/>
        </p:nvSpPr>
        <p:spPr>
          <a:xfrm xmlns:a="http://schemas.openxmlformats.org/drawingml/2006/main">
            <a:off x="723900" y="3333750"/>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CDEAF3"/>
                </a:solidFill>
                <a:latin typeface="Helvetica Neue"/>
                <a:ea typeface="Helvetica Neue"/>
                <a:cs typeface="Helvetica Neue"/>
              </a:defRPr>
            </a:pPr>
            <a:r>
              <a:rPr sz="1725" b="0">
                <a:solidFill>
                  <a:srgbClr val="CDEAF3"/>
                </a:solidFill>
                <a:latin typeface="Helvetica Neue"/>
                <a:ea typeface="Helvetica Neue"/>
                <a:cs typeface="Helvetica Neue"/>
              </a:rPr>
              <a:t>AI for early toxicity screening from molecular structure</a:t>
            </a:r>
          </a:p>
        </p:txBody>
      </p:sp>
      <p:sp>
        <p:nvSpPr>
          <p:cNvPr id="5" name="">
            <a:extLst xmlns:a="http://schemas.openxmlformats.org/drawingml/2006/main">
              <a:ext uri="{FF2B5EF4-FFF2-40B4-BE49-F238E27FC236}">
                <a16:creationId xmlns:a16="http://schemas.microsoft.com/office/drawing/2014/main" id="{7F1A5EAB-D67D-4833-A5F2-3D6DFE75CC9A}"/>
              </a:ext>
            </a:extLst>
          </p:cNvPr>
          <p:cNvSpPr>
            <a:spLocks xmlns:a="http://schemas.openxmlformats.org/drawingml/2006/main" noGrp="1"/>
          </p:cNvSpPr>
          <p:nvPr/>
        </p:nvSpPr>
        <p:spPr>
          <a:xfrm xmlns:a="http://schemas.openxmlformats.org/drawingml/2006/main">
            <a:off x="723900" y="4286250"/>
            <a:ext cx="1285875" cy="38100"/>
          </a:xfrm>
          <a:prstGeom xmlns:a="http://schemas.openxmlformats.org/drawingml/2006/main" prst="rect">
            <a:avLst/>
          </a:prstGeom>
          <a:solidFill xmlns:a="http://schemas.openxmlformats.org/drawingml/2006/main">
            <a:srgbClr val="38BDF8"/>
          </a:solidFill>
          <a:ln xmlns:a="http://schemas.openxmlformats.org/drawingml/2006/main" w="9525">
            <a:solidFill>
              <a:srgbClr val="38BDF8"/>
            </a:solidFill>
          </a:ln>
        </p:spPr>
      </p:sp>
      <p:sp>
        <p:nvSpPr>
          <p:cNvPr id="6" name="">
            <a:extLst xmlns:a="http://schemas.openxmlformats.org/drawingml/2006/main">
              <a:ext uri="{FF2B5EF4-FFF2-40B4-BE49-F238E27FC236}">
                <a16:creationId xmlns:a16="http://schemas.microsoft.com/office/drawing/2014/main" id="{90C5AFFD-CC14-4B7D-8173-9B62343050EC}"/>
              </a:ext>
            </a:extLst>
          </p:cNvPr>
          <p:cNvSpPr>
            <a:spLocks xmlns:a="http://schemas.openxmlformats.org/drawingml/2006/main" noGrp="1"/>
          </p:cNvSpPr>
          <p:nvPr/>
        </p:nvSpPr>
        <p:spPr>
          <a:xfrm xmlns:a="http://schemas.openxmlformats.org/drawingml/2006/main">
            <a:off x="723900" y="4572000"/>
            <a:ext cx="438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Somesh Jaiswal</a:t>
            </a:r>
          </a:p>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CO23BTECH11022</a:t>
            </a:r>
          </a:p>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BT5230 AI for Drug Discovery</a:t>
            </a:r>
          </a:p>
        </p:txBody>
      </p:sp>
    </p:spTree>
    <p:extLst>
      <p:ext uri="{BB962C8B-B14F-4D97-AF65-F5344CB8AC3E}">
        <p14:creationId xmlns:p14="http://schemas.microsoft.com/office/powerpoint/2010/main" val="2083962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8284AE7-4DC0-4BD7-955D-AEBF5E9B6F39}"/>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Project overview</a:t>
            </a:r>
          </a:p>
        </p:txBody>
      </p:sp>
      <p:sp>
        <p:nvSpPr>
          <p:cNvPr id="2" name="">
            <a:extLst xmlns:a="http://schemas.openxmlformats.org/drawingml/2006/main">
              <a:ext uri="{FF2B5EF4-FFF2-40B4-BE49-F238E27FC236}">
                <a16:creationId xmlns:a16="http://schemas.microsoft.com/office/drawing/2014/main" id="{5D9879D4-BA11-4DD6-B934-AB1682683DAD}"/>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9C1A3BFA-7261-4A7C-BB16-6662DA42335F}"/>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5D5CD034-50EC-408F-9242-5E5E7F412362}"/>
              </a:ext>
            </a:extLst>
          </p:cNvPr>
          <p:cNvSpPr>
            <a:spLocks xmlns:a="http://schemas.openxmlformats.org/drawingml/2006/main" noGrp="1"/>
          </p:cNvSpPr>
          <p:nvPr/>
        </p:nvSpPr>
        <p:spPr>
          <a:xfrm xmlns:a="http://schemas.openxmlformats.org/drawingml/2006/main">
            <a:off x="685800" y="1428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0F9D8A"/>
                </a:solidFill>
                <a:latin typeface="Helvetica Neue"/>
                <a:ea typeface="Helvetica Neue"/>
                <a:cs typeface="Helvetica Neue"/>
              </a:defRPr>
            </a:pPr>
            <a:r>
              <a:rPr sz="1575" b="1">
                <a:solidFill>
                  <a:srgbClr val="0F9D8A"/>
                </a:solidFill>
                <a:latin typeface="Helvetica Neue"/>
                <a:ea typeface="Helvetica Neue"/>
                <a:cs typeface="Helvetica Neue"/>
              </a:rPr>
              <a:t>Research question</a:t>
            </a:r>
          </a:p>
        </p:txBody>
      </p:sp>
      <p:sp>
        <p:nvSpPr>
          <p:cNvPr id="5" name="">
            <a:extLst xmlns:a="http://schemas.openxmlformats.org/drawingml/2006/main">
              <a:ext uri="{FF2B5EF4-FFF2-40B4-BE49-F238E27FC236}">
                <a16:creationId xmlns:a16="http://schemas.microsoft.com/office/drawing/2014/main" id="{FB23787A-0A90-4C19-BCBA-F5B2544AA575}"/>
              </a:ext>
            </a:extLst>
          </p:cNvPr>
          <p:cNvSpPr>
            <a:spLocks xmlns:a="http://schemas.openxmlformats.org/drawingml/2006/main" noGrp="1"/>
          </p:cNvSpPr>
          <p:nvPr/>
        </p:nvSpPr>
        <p:spPr>
          <a:xfrm xmlns:a="http://schemas.openxmlformats.org/drawingml/2006/main">
            <a:off x="685800" y="18859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071F33"/>
                </a:solidFill>
                <a:latin typeface="Helvetica Neue"/>
                <a:ea typeface="Helvetica Neue"/>
                <a:cs typeface="Helvetica Neue"/>
              </a:defRPr>
            </a:pPr>
            <a:r>
              <a:rPr sz="2325" b="1">
                <a:solidFill>
                  <a:srgbClr val="071F33"/>
                </a:solidFill>
                <a:latin typeface="Helvetica Neue"/>
                <a:ea typeface="Helvetica Neue"/>
                <a:cs typeface="Helvetica Neue"/>
              </a:rPr>
              <a:t>Can one molecular model predict activity across 12 related toxicity assays?</a:t>
            </a:r>
          </a:p>
        </p:txBody>
      </p:sp>
      <p:sp>
        <p:nvSpPr>
          <p:cNvPr id="6" name="">
            <a:extLst xmlns:a="http://schemas.openxmlformats.org/drawingml/2006/main">
              <a:ext uri="{FF2B5EF4-FFF2-40B4-BE49-F238E27FC236}">
                <a16:creationId xmlns:a16="http://schemas.microsoft.com/office/drawing/2014/main" id="{83DEF9AF-E033-4E7B-8952-9AC6387E5688}"/>
              </a:ext>
            </a:extLst>
          </p:cNvPr>
          <p:cNvSpPr>
            <a:spLocks xmlns:a="http://schemas.openxmlformats.org/drawingml/2006/main" noGrp="1"/>
          </p:cNvSpPr>
          <p:nvPr/>
        </p:nvSpPr>
        <p:spPr>
          <a:xfrm xmlns:a="http://schemas.openxmlformats.org/drawingml/2006/main">
            <a:off x="6096000" y="1428750"/>
            <a:ext cx="38100" cy="4095750"/>
          </a:xfrm>
          <a:prstGeom xmlns:a="http://schemas.openxmlformats.org/drawingml/2006/main" prst="rect">
            <a:avLst/>
          </a:prstGeom>
          <a:solidFill xmlns:a="http://schemas.openxmlformats.org/drawingml/2006/main">
            <a:srgbClr val="D9E2E8"/>
          </a:solidFill>
          <a:ln xmlns:a="http://schemas.openxmlformats.org/drawingml/2006/main" w="9525">
            <a:solidFill>
              <a:srgbClr val="D9E2E8"/>
            </a:solidFill>
          </a:ln>
        </p:spPr>
      </p:sp>
      <p:sp>
        <p:nvSpPr>
          <p:cNvPr id="7" name="">
            <a:extLst xmlns:a="http://schemas.openxmlformats.org/drawingml/2006/main">
              <a:ext uri="{FF2B5EF4-FFF2-40B4-BE49-F238E27FC236}">
                <a16:creationId xmlns:a16="http://schemas.microsoft.com/office/drawing/2014/main" id="{4B4D7AD9-AF3A-4C7F-B3D2-27DB976D5DD6}"/>
              </a:ext>
            </a:extLst>
          </p:cNvPr>
          <p:cNvSpPr>
            <a:spLocks xmlns:a="http://schemas.openxmlformats.org/drawingml/2006/main" noGrp="1"/>
          </p:cNvSpPr>
          <p:nvPr/>
        </p:nvSpPr>
        <p:spPr>
          <a:xfrm xmlns:a="http://schemas.openxmlformats.org/drawingml/2006/main">
            <a:off x="6667500" y="1476375"/>
            <a:ext cx="46196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Input: one SMILES string</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Output: 12 assay activity probabilities</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Data: 7,823 valid Tox21 molecules</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Main model: shared multi-task neural network</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Evaluation: scaffold split with ROC-AUC and PR-AUC</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Interface: Streamlit web application</a:t>
            </a:r>
          </a:p>
        </p:txBody>
      </p:sp>
      <p:sp>
        <p:nvSpPr>
          <p:cNvPr id="8" name="">
            <a:extLst xmlns:a="http://schemas.openxmlformats.org/drawingml/2006/main">
              <a:ext uri="{FF2B5EF4-FFF2-40B4-BE49-F238E27FC236}">
                <a16:creationId xmlns:a16="http://schemas.microsoft.com/office/drawing/2014/main" id="{8FC3C04A-807B-4472-8A6B-80C9EE60CEC6}"/>
              </a:ext>
            </a:extLst>
          </p:cNvPr>
          <p:cNvSpPr>
            <a:spLocks xmlns:a="http://schemas.openxmlformats.org/drawingml/2006/main" noGrp="1"/>
          </p:cNvSpPr>
          <p:nvPr/>
        </p:nvSpPr>
        <p:spPr>
          <a:xfrm xmlns:a="http://schemas.openxmlformats.org/drawingml/2006/main">
            <a:off x="685800" y="34766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0F9D8A"/>
                </a:solidFill>
                <a:latin typeface="Helvetica Neue"/>
                <a:ea typeface="Helvetica Neue"/>
                <a:cs typeface="Helvetica Neue"/>
              </a:defRPr>
            </a:pPr>
            <a:r>
              <a:rPr sz="1425" b="1">
                <a:solidFill>
                  <a:srgbClr val="0F9D8A"/>
                </a:solidFill>
                <a:latin typeface="Helvetica Neue"/>
                <a:ea typeface="Helvetica Neue"/>
                <a:cs typeface="Helvetica Neue"/>
              </a:rPr>
              <a:t>Goal</a:t>
            </a:r>
          </a:p>
        </p:txBody>
      </p:sp>
      <p:sp>
        <p:nvSpPr>
          <p:cNvPr id="9" name="">
            <a:extLst xmlns:a="http://schemas.openxmlformats.org/drawingml/2006/main">
              <a:ext uri="{FF2B5EF4-FFF2-40B4-BE49-F238E27FC236}">
                <a16:creationId xmlns:a16="http://schemas.microsoft.com/office/drawing/2014/main" id="{7682A65B-12B8-4A1A-91ED-C2DB7FEC6A41}"/>
              </a:ext>
            </a:extLst>
          </p:cNvPr>
          <p:cNvSpPr>
            <a:spLocks xmlns:a="http://schemas.openxmlformats.org/drawingml/2006/main" noGrp="1"/>
          </p:cNvSpPr>
          <p:nvPr/>
        </p:nvSpPr>
        <p:spPr>
          <a:xfrm xmlns:a="http://schemas.openxmlformats.org/drawingml/2006/main">
            <a:off x="685800" y="3857625"/>
            <a:ext cx="4810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122638"/>
                </a:solidFill>
                <a:latin typeface="Helvetica Neue"/>
                <a:ea typeface="Helvetica Neue"/>
                <a:cs typeface="Helvetica Neue"/>
              </a:defRPr>
            </a:pPr>
            <a:r>
              <a:rPr sz="1875" b="0">
                <a:solidFill>
                  <a:srgbClr val="122638"/>
                </a:solidFill>
                <a:latin typeface="Helvetica Neue"/>
                <a:ea typeface="Helvetica Neue"/>
                <a:cs typeface="Helvetica Neue"/>
              </a:rPr>
              <a:t>Prioritise compounds for further testing before expensive laboratory work.</a:t>
            </a:r>
          </a:p>
        </p:txBody>
      </p:sp>
      <p:sp>
        <p:nvSpPr>
          <p:cNvPr id="10" name="">
            <a:extLst xmlns:a="http://schemas.openxmlformats.org/drawingml/2006/main">
              <a:ext uri="{FF2B5EF4-FFF2-40B4-BE49-F238E27FC236}">
                <a16:creationId xmlns:a16="http://schemas.microsoft.com/office/drawing/2014/main" id="{3799F247-0CCE-42C7-8EA0-845E6407F3FC}"/>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559322838"/>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7C13E8D-1D2E-4100-8062-5453199C0B60}"/>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The screening problem</a:t>
            </a:r>
          </a:p>
        </p:txBody>
      </p:sp>
      <p:sp>
        <p:nvSpPr>
          <p:cNvPr id="2" name="">
            <a:extLst xmlns:a="http://schemas.openxmlformats.org/drawingml/2006/main">
              <a:ext uri="{FF2B5EF4-FFF2-40B4-BE49-F238E27FC236}">
                <a16:creationId xmlns:a16="http://schemas.microsoft.com/office/drawing/2014/main" id="{73A9040E-1C57-481C-B971-225680062DA2}"/>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D744C88A-5B76-4DF3-B74B-BB5DBDA5DC81}"/>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D83F8269-ABAB-414C-AA9F-5F24898A22B7}"/>
              </a:ext>
            </a:extLst>
          </p:cNvPr>
          <p:cNvSpPr>
            <a:spLocks xmlns:a="http://schemas.openxmlformats.org/drawingml/2006/main" noGrp="1"/>
          </p:cNvSpPr>
          <p:nvPr/>
        </p:nvSpPr>
        <p:spPr>
          <a:xfrm xmlns:a="http://schemas.openxmlformats.org/drawingml/2006/main">
            <a:off x="742950" y="14763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71F33"/>
                </a:solidFill>
                <a:latin typeface="Helvetica Neue"/>
                <a:ea typeface="Helvetica Neue"/>
                <a:cs typeface="Helvetica Neue"/>
              </a:defRPr>
            </a:pPr>
            <a:r>
              <a:rPr sz="1725" b="1">
                <a:solidFill>
                  <a:srgbClr val="071F33"/>
                </a:solidFill>
                <a:latin typeface="Helvetica Neue"/>
                <a:ea typeface="Helvetica Neue"/>
                <a:cs typeface="Helvetica Neue"/>
              </a:rPr>
              <a:t>Experimental testing</a:t>
            </a:r>
          </a:p>
        </p:txBody>
      </p:sp>
      <p:sp>
        <p:nvSpPr>
          <p:cNvPr id="5" name="">
            <a:extLst xmlns:a="http://schemas.openxmlformats.org/drawingml/2006/main">
              <a:ext uri="{FF2B5EF4-FFF2-40B4-BE49-F238E27FC236}">
                <a16:creationId xmlns:a16="http://schemas.microsoft.com/office/drawing/2014/main" id="{DDAA3B76-DC01-40E0-89D0-2A5FFE090B3C}"/>
              </a:ext>
            </a:extLst>
          </p:cNvPr>
          <p:cNvSpPr>
            <a:spLocks xmlns:a="http://schemas.openxmlformats.org/drawingml/2006/main" noGrp="1"/>
          </p:cNvSpPr>
          <p:nvPr/>
        </p:nvSpPr>
        <p:spPr>
          <a:xfrm xmlns:a="http://schemas.openxmlformats.org/drawingml/2006/main">
            <a:off x="742950" y="2000250"/>
            <a:ext cx="409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Reliable biological evidence</a:t>
            </a:r>
          </a:p>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Requires time, reagents and equipment</a:t>
            </a:r>
          </a:p>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Difficult to run every compound in every assay</a:t>
            </a:r>
          </a:p>
        </p:txBody>
      </p:sp>
      <p:sp>
        <p:nvSpPr>
          <p:cNvPr id="6" name="">
            <a:extLst xmlns:a="http://schemas.openxmlformats.org/drawingml/2006/main">
              <a:ext uri="{FF2B5EF4-FFF2-40B4-BE49-F238E27FC236}">
                <a16:creationId xmlns:a16="http://schemas.microsoft.com/office/drawing/2014/main" id="{4CBFA0F7-3AC3-4035-95A3-BDC1B53092EE}"/>
              </a:ext>
            </a:extLst>
          </p:cNvPr>
          <p:cNvSpPr>
            <a:spLocks xmlns:a="http://schemas.openxmlformats.org/drawingml/2006/main" noGrp="1"/>
          </p:cNvSpPr>
          <p:nvPr/>
        </p:nvSpPr>
        <p:spPr>
          <a:xfrm xmlns:a="http://schemas.openxmlformats.org/drawingml/2006/main">
            <a:off x="6953250" y="14763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71F33"/>
                </a:solidFill>
                <a:latin typeface="Helvetica Neue"/>
                <a:ea typeface="Helvetica Neue"/>
                <a:cs typeface="Helvetica Neue"/>
              </a:defRPr>
            </a:pPr>
            <a:r>
              <a:rPr sz="1725" b="1">
                <a:solidFill>
                  <a:srgbClr val="071F33"/>
                </a:solidFill>
                <a:latin typeface="Helvetica Neue"/>
                <a:ea typeface="Helvetica Neue"/>
                <a:cs typeface="Helvetica Neue"/>
              </a:rPr>
              <a:t>Computational screening</a:t>
            </a:r>
          </a:p>
        </p:txBody>
      </p:sp>
      <p:sp>
        <p:nvSpPr>
          <p:cNvPr id="7" name="">
            <a:extLst xmlns:a="http://schemas.openxmlformats.org/drawingml/2006/main">
              <a:ext uri="{FF2B5EF4-FFF2-40B4-BE49-F238E27FC236}">
                <a16:creationId xmlns:a16="http://schemas.microsoft.com/office/drawing/2014/main" id="{24677CC8-9004-4722-8816-7D76DCF8933C}"/>
              </a:ext>
            </a:extLst>
          </p:cNvPr>
          <p:cNvSpPr>
            <a:spLocks xmlns:a="http://schemas.openxmlformats.org/drawingml/2006/main" noGrp="1"/>
          </p:cNvSpPr>
          <p:nvPr/>
        </p:nvSpPr>
        <p:spPr>
          <a:xfrm xmlns:a="http://schemas.openxmlformats.org/drawingml/2006/main">
            <a:off x="6953250" y="2000250"/>
            <a:ext cx="409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Ranks candidates before experiments</a:t>
            </a:r>
          </a:p>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Uses molecular structure alone</a:t>
            </a:r>
          </a:p>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Cannot replace experimental validation</a:t>
            </a:r>
          </a:p>
        </p:txBody>
      </p:sp>
      <p:sp>
        <p:nvSpPr>
          <p:cNvPr id="8" name="">
            <a:extLst xmlns:a="http://schemas.openxmlformats.org/drawingml/2006/main">
              <a:ext uri="{FF2B5EF4-FFF2-40B4-BE49-F238E27FC236}">
                <a16:creationId xmlns:a16="http://schemas.microsoft.com/office/drawing/2014/main" id="{55FD3FEB-A436-4A77-BF1D-12654D6740D0}"/>
              </a:ext>
            </a:extLst>
          </p:cNvPr>
          <p:cNvSpPr>
            <a:spLocks xmlns:a="http://schemas.openxmlformats.org/drawingml/2006/main" noGrp="1"/>
          </p:cNvSpPr>
          <p:nvPr/>
        </p:nvSpPr>
        <p:spPr>
          <a:xfrm xmlns:a="http://schemas.openxmlformats.org/drawingml/2006/main">
            <a:off x="5429250" y="2619375"/>
            <a:ext cx="857250" cy="4572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9" name="">
            <a:extLst xmlns:a="http://schemas.openxmlformats.org/drawingml/2006/main">
              <a:ext uri="{FF2B5EF4-FFF2-40B4-BE49-F238E27FC236}">
                <a16:creationId xmlns:a16="http://schemas.microsoft.com/office/drawing/2014/main" id="{A51530AE-1819-431D-931D-87B67DC79650}"/>
              </a:ext>
            </a:extLst>
          </p:cNvPr>
          <p:cNvSpPr>
            <a:spLocks xmlns:a="http://schemas.openxmlformats.org/drawingml/2006/main" noGrp="1"/>
          </p:cNvSpPr>
          <p:nvPr/>
        </p:nvSpPr>
        <p:spPr>
          <a:xfrm xmlns:a="http://schemas.openxmlformats.org/drawingml/2006/main">
            <a:off x="1714500" y="4810125"/>
            <a:ext cx="8763000" cy="1000125"/>
          </a:xfrm>
          <a:prstGeom xmlns:a="http://schemas.openxmlformats.org/drawingml/2006/main" prst="roundRect">
            <a:avLst>
              <a:gd name="adj" fmla="val 7619"/>
            </a:avLst>
          </a:prstGeom>
          <a:solidFill xmlns:a="http://schemas.openxmlformats.org/drawingml/2006/main">
            <a:srgbClr val="071F33"/>
          </a:solidFill>
          <a:ln xmlns:a="http://schemas.openxmlformats.org/drawingml/2006/main" w="9525">
            <a:solidFill>
              <a:srgbClr val="071F33"/>
            </a:solidFill>
          </a:ln>
        </p:spPr>
      </p:sp>
      <p:sp>
        <p:nvSpPr>
          <p:cNvPr id="10" name="">
            <a:extLst xmlns:a="http://schemas.openxmlformats.org/drawingml/2006/main">
              <a:ext uri="{FF2B5EF4-FFF2-40B4-BE49-F238E27FC236}">
                <a16:creationId xmlns:a16="http://schemas.microsoft.com/office/drawing/2014/main" id="{91ED35FB-12CE-4CB1-A6F9-5042EDB3770F}"/>
              </a:ext>
            </a:extLst>
          </p:cNvPr>
          <p:cNvSpPr>
            <a:spLocks xmlns:a="http://schemas.openxmlformats.org/drawingml/2006/main" noGrp="1"/>
          </p:cNvSpPr>
          <p:nvPr/>
        </p:nvSpPr>
        <p:spPr>
          <a:xfrm xmlns:a="http://schemas.openxmlformats.org/drawingml/2006/main">
            <a:off x="2047875" y="50006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8BDF8"/>
                </a:solidFill>
                <a:latin typeface="Helvetica Neue"/>
                <a:ea typeface="Helvetica Neue"/>
                <a:cs typeface="Helvetica Neue"/>
              </a:defRPr>
            </a:pPr>
            <a:r>
              <a:rPr sz="1350" b="1">
                <a:solidFill>
                  <a:srgbClr val="38BDF8"/>
                </a:solidFill>
                <a:latin typeface="Helvetica Neue"/>
                <a:ea typeface="Helvetica Neue"/>
                <a:cs typeface="Helvetica Neue"/>
              </a:rPr>
              <a:t>Problem statement</a:t>
            </a:r>
          </a:p>
        </p:txBody>
      </p:sp>
      <p:sp>
        <p:nvSpPr>
          <p:cNvPr id="11" name="">
            <a:extLst xmlns:a="http://schemas.openxmlformats.org/drawingml/2006/main">
              <a:ext uri="{FF2B5EF4-FFF2-40B4-BE49-F238E27FC236}">
                <a16:creationId xmlns:a16="http://schemas.microsoft.com/office/drawing/2014/main" id="{1431A171-F813-460F-8C75-12700BB56379}"/>
              </a:ext>
            </a:extLst>
          </p:cNvPr>
          <p:cNvSpPr>
            <a:spLocks xmlns:a="http://schemas.openxmlformats.org/drawingml/2006/main" noGrp="1"/>
          </p:cNvSpPr>
          <p:nvPr/>
        </p:nvSpPr>
        <p:spPr>
          <a:xfrm xmlns:a="http://schemas.openxmlformats.org/drawingml/2006/main">
            <a:off x="2047875" y="5314950"/>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Predict the probability that a molecule is active in each Tox21 assay while handling missing and imbalanced labels.</a:t>
            </a:r>
          </a:p>
        </p:txBody>
      </p:sp>
      <p:sp>
        <p:nvSpPr>
          <p:cNvPr id="12" name="">
            <a:extLst xmlns:a="http://schemas.openxmlformats.org/drawingml/2006/main">
              <a:ext uri="{FF2B5EF4-FFF2-40B4-BE49-F238E27FC236}">
                <a16:creationId xmlns:a16="http://schemas.microsoft.com/office/drawing/2014/main" id="{0E7F1FD3-56D2-43E4-8695-FCBC16A508C8}"/>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4993671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C5C08FF-0E8B-475A-AC73-E88BB98C3E1A}"/>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Tox21 dataset</a:t>
            </a:r>
          </a:p>
        </p:txBody>
      </p:sp>
      <p:sp>
        <p:nvSpPr>
          <p:cNvPr id="2" name="">
            <a:extLst xmlns:a="http://schemas.openxmlformats.org/drawingml/2006/main">
              <a:ext uri="{FF2B5EF4-FFF2-40B4-BE49-F238E27FC236}">
                <a16:creationId xmlns:a16="http://schemas.microsoft.com/office/drawing/2014/main" id="{9704FCC2-3C6F-4EF0-8D65-021240C9B441}"/>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02663B8A-7A9A-4750-A07E-0280B27FA42F}"/>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AD181CC9-9D71-419D-B243-CD43107D11F5}"/>
              </a:ext>
            </a:extLst>
          </p:cNvPr>
          <p:cNvSpPr>
            <a:spLocks xmlns:a="http://schemas.openxmlformats.org/drawingml/2006/main" noGrp="1"/>
          </p:cNvSpPr>
          <p:nvPr/>
        </p:nvSpPr>
        <p:spPr>
          <a:xfrm xmlns:a="http://schemas.openxmlformats.org/drawingml/2006/main">
            <a:off x="742950" y="138112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155E75"/>
                </a:solidFill>
                <a:latin typeface="Helvetica Neue"/>
                <a:ea typeface="Helvetica Neue"/>
                <a:cs typeface="Helvetica Neue"/>
              </a:defRPr>
            </a:pPr>
            <a:r>
              <a:rPr sz="4500" b="1">
                <a:solidFill>
                  <a:srgbClr val="155E75"/>
                </a:solidFill>
                <a:latin typeface="Helvetica Neue"/>
                <a:ea typeface="Helvetica Neue"/>
                <a:cs typeface="Helvetica Neue"/>
              </a:rPr>
              <a:t>7,831</a:t>
            </a:r>
          </a:p>
        </p:txBody>
      </p:sp>
      <p:sp>
        <p:nvSpPr>
          <p:cNvPr id="5" name="">
            <a:extLst xmlns:a="http://schemas.openxmlformats.org/drawingml/2006/main">
              <a:ext uri="{FF2B5EF4-FFF2-40B4-BE49-F238E27FC236}">
                <a16:creationId xmlns:a16="http://schemas.microsoft.com/office/drawing/2014/main" id="{DDF85A32-4BFB-4EC8-BCC5-5B715DBF8F47}"/>
              </a:ext>
            </a:extLst>
          </p:cNvPr>
          <p:cNvSpPr>
            <a:spLocks xmlns:a="http://schemas.openxmlformats.org/drawingml/2006/main" noGrp="1"/>
          </p:cNvSpPr>
          <p:nvPr/>
        </p:nvSpPr>
        <p:spPr>
          <a:xfrm xmlns:a="http://schemas.openxmlformats.org/drawingml/2006/main">
            <a:off x="781050" y="21907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raw rows</a:t>
            </a:r>
          </a:p>
        </p:txBody>
      </p:sp>
      <p:sp>
        <p:nvSpPr>
          <p:cNvPr id="6" name="">
            <a:extLst xmlns:a="http://schemas.openxmlformats.org/drawingml/2006/main">
              <a:ext uri="{FF2B5EF4-FFF2-40B4-BE49-F238E27FC236}">
                <a16:creationId xmlns:a16="http://schemas.microsoft.com/office/drawing/2014/main" id="{A78B575B-2266-4F67-9317-F0E5DEA27082}"/>
              </a:ext>
            </a:extLst>
          </p:cNvPr>
          <p:cNvSpPr>
            <a:spLocks xmlns:a="http://schemas.openxmlformats.org/drawingml/2006/main" noGrp="1"/>
          </p:cNvSpPr>
          <p:nvPr/>
        </p:nvSpPr>
        <p:spPr>
          <a:xfrm xmlns:a="http://schemas.openxmlformats.org/drawingml/2006/main">
            <a:off x="3810000" y="1381125"/>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C2413A"/>
                </a:solidFill>
                <a:latin typeface="Helvetica Neue"/>
                <a:ea typeface="Helvetica Neue"/>
                <a:cs typeface="Helvetica Neue"/>
              </a:defRPr>
            </a:pPr>
            <a:r>
              <a:rPr sz="4500" b="1">
                <a:solidFill>
                  <a:srgbClr val="C2413A"/>
                </a:solidFill>
                <a:latin typeface="Helvetica Neue"/>
                <a:ea typeface="Helvetica Neue"/>
                <a:cs typeface="Helvetica Neue"/>
              </a:rPr>
              <a:t>8</a:t>
            </a:r>
          </a:p>
        </p:txBody>
      </p:sp>
      <p:sp>
        <p:nvSpPr>
          <p:cNvPr id="7" name="">
            <a:extLst xmlns:a="http://schemas.openxmlformats.org/drawingml/2006/main">
              <a:ext uri="{FF2B5EF4-FFF2-40B4-BE49-F238E27FC236}">
                <a16:creationId xmlns:a16="http://schemas.microsoft.com/office/drawing/2014/main" id="{76BA97BB-22B1-4A4D-A080-01E967B51B1E}"/>
              </a:ext>
            </a:extLst>
          </p:cNvPr>
          <p:cNvSpPr>
            <a:spLocks xmlns:a="http://schemas.openxmlformats.org/drawingml/2006/main" noGrp="1"/>
          </p:cNvSpPr>
          <p:nvPr/>
        </p:nvSpPr>
        <p:spPr>
          <a:xfrm xmlns:a="http://schemas.openxmlformats.org/drawingml/2006/main">
            <a:off x="3848100" y="2190750"/>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invalid SMILES removed</a:t>
            </a:r>
          </a:p>
        </p:txBody>
      </p:sp>
      <p:sp>
        <p:nvSpPr>
          <p:cNvPr id="8" name="">
            <a:extLst xmlns:a="http://schemas.openxmlformats.org/drawingml/2006/main">
              <a:ext uri="{FF2B5EF4-FFF2-40B4-BE49-F238E27FC236}">
                <a16:creationId xmlns:a16="http://schemas.microsoft.com/office/drawing/2014/main" id="{4ED1A083-26CC-405B-8AA4-E6A477EF2FA0}"/>
              </a:ext>
            </a:extLst>
          </p:cNvPr>
          <p:cNvSpPr>
            <a:spLocks xmlns:a="http://schemas.openxmlformats.org/drawingml/2006/main" noGrp="1"/>
          </p:cNvSpPr>
          <p:nvPr/>
        </p:nvSpPr>
        <p:spPr>
          <a:xfrm xmlns:a="http://schemas.openxmlformats.org/drawingml/2006/main">
            <a:off x="6953250" y="138112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0F9D8A"/>
                </a:solidFill>
                <a:latin typeface="Helvetica Neue"/>
                <a:ea typeface="Helvetica Neue"/>
                <a:cs typeface="Helvetica Neue"/>
              </a:defRPr>
            </a:pPr>
            <a:r>
              <a:rPr sz="4500" b="1">
                <a:solidFill>
                  <a:srgbClr val="0F9D8A"/>
                </a:solidFill>
                <a:latin typeface="Helvetica Neue"/>
                <a:ea typeface="Helvetica Neue"/>
                <a:cs typeface="Helvetica Neue"/>
              </a:rPr>
              <a:t>7,823</a:t>
            </a:r>
          </a:p>
        </p:txBody>
      </p:sp>
      <p:sp>
        <p:nvSpPr>
          <p:cNvPr id="9" name="">
            <a:extLst xmlns:a="http://schemas.openxmlformats.org/drawingml/2006/main">
              <a:ext uri="{FF2B5EF4-FFF2-40B4-BE49-F238E27FC236}">
                <a16:creationId xmlns:a16="http://schemas.microsoft.com/office/drawing/2014/main" id="{79343D6A-E796-4617-94F8-3F18BE6464F8}"/>
              </a:ext>
            </a:extLst>
          </p:cNvPr>
          <p:cNvSpPr>
            <a:spLocks xmlns:a="http://schemas.openxmlformats.org/drawingml/2006/main" noGrp="1"/>
          </p:cNvSpPr>
          <p:nvPr/>
        </p:nvSpPr>
        <p:spPr>
          <a:xfrm xmlns:a="http://schemas.openxmlformats.org/drawingml/2006/main">
            <a:off x="6991350" y="21907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valid molecules</a:t>
            </a:r>
          </a:p>
        </p:txBody>
      </p:sp>
      <p:sp>
        <p:nvSpPr>
          <p:cNvPr id="10" name="">
            <a:extLst xmlns:a="http://schemas.openxmlformats.org/drawingml/2006/main">
              <a:ext uri="{FF2B5EF4-FFF2-40B4-BE49-F238E27FC236}">
                <a16:creationId xmlns:a16="http://schemas.microsoft.com/office/drawing/2014/main" id="{1840E294-5C47-49E1-8A8C-0F06AC91952F}"/>
              </a:ext>
            </a:extLst>
          </p:cNvPr>
          <p:cNvSpPr>
            <a:spLocks xmlns:a="http://schemas.openxmlformats.org/drawingml/2006/main" noGrp="1"/>
          </p:cNvSpPr>
          <p:nvPr/>
        </p:nvSpPr>
        <p:spPr>
          <a:xfrm xmlns:a="http://schemas.openxmlformats.org/drawingml/2006/main">
            <a:off x="9906000" y="1381125"/>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F59E0B"/>
                </a:solidFill>
                <a:latin typeface="Helvetica Neue"/>
                <a:ea typeface="Helvetica Neue"/>
                <a:cs typeface="Helvetica Neue"/>
              </a:defRPr>
            </a:pPr>
            <a:r>
              <a:rPr sz="4500" b="1">
                <a:solidFill>
                  <a:srgbClr val="F59E0B"/>
                </a:solidFill>
                <a:latin typeface="Helvetica Neue"/>
                <a:ea typeface="Helvetica Neue"/>
                <a:cs typeface="Helvetica Neue"/>
              </a:rPr>
              <a:t>12</a:t>
            </a:r>
          </a:p>
        </p:txBody>
      </p:sp>
      <p:sp>
        <p:nvSpPr>
          <p:cNvPr id="11" name="">
            <a:extLst xmlns:a="http://schemas.openxmlformats.org/drawingml/2006/main">
              <a:ext uri="{FF2B5EF4-FFF2-40B4-BE49-F238E27FC236}">
                <a16:creationId xmlns:a16="http://schemas.microsoft.com/office/drawing/2014/main" id="{E725097F-2156-4652-AFC8-B5CCB85F6987}"/>
              </a:ext>
            </a:extLst>
          </p:cNvPr>
          <p:cNvSpPr>
            <a:spLocks xmlns:a="http://schemas.openxmlformats.org/drawingml/2006/main" noGrp="1"/>
          </p:cNvSpPr>
          <p:nvPr/>
        </p:nvSpPr>
        <p:spPr>
          <a:xfrm xmlns:a="http://schemas.openxmlformats.org/drawingml/2006/main">
            <a:off x="9944100" y="219075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assay tasks</a:t>
            </a:r>
          </a:p>
        </p:txBody>
      </p:sp>
      <p:sp>
        <p:nvSpPr>
          <p:cNvPr id="12" name="">
            <a:extLst xmlns:a="http://schemas.openxmlformats.org/drawingml/2006/main">
              <a:ext uri="{FF2B5EF4-FFF2-40B4-BE49-F238E27FC236}">
                <a16:creationId xmlns:a16="http://schemas.microsoft.com/office/drawing/2014/main" id="{459ECF1F-003E-4AC8-B6C7-D572E7E4A059}"/>
              </a:ext>
            </a:extLst>
          </p:cNvPr>
          <p:cNvSpPr>
            <a:spLocks xmlns:a="http://schemas.openxmlformats.org/drawingml/2006/main" noGrp="1"/>
          </p:cNvSpPr>
          <p:nvPr/>
        </p:nvSpPr>
        <p:spPr>
          <a:xfrm xmlns:a="http://schemas.openxmlformats.org/drawingml/2006/main">
            <a:off x="742950" y="3143250"/>
            <a:ext cx="5048250" cy="1714500"/>
          </a:xfrm>
          <a:prstGeom xmlns:a="http://schemas.openxmlformats.org/drawingml/2006/main" prst="roundRect">
            <a:avLst>
              <a:gd name="adj" fmla="val 4444"/>
            </a:avLst>
          </a:prstGeom>
          <a:solidFill xmlns:a="http://schemas.openxmlformats.org/drawingml/2006/main">
            <a:srgbClr val="DFF7F2"/>
          </a:solidFill>
          <a:ln xmlns:a="http://schemas.openxmlformats.org/drawingml/2006/main" w="9525">
            <a:solidFill>
              <a:srgbClr val="DFF7F2"/>
            </a:solidFill>
          </a:ln>
        </p:spPr>
      </p:sp>
      <p:sp>
        <p:nvSpPr>
          <p:cNvPr id="13" name="">
            <a:extLst xmlns:a="http://schemas.openxmlformats.org/drawingml/2006/main">
              <a:ext uri="{FF2B5EF4-FFF2-40B4-BE49-F238E27FC236}">
                <a16:creationId xmlns:a16="http://schemas.microsoft.com/office/drawing/2014/main" id="{279C1F49-F8AD-4A9A-A050-5EF520B33E13}"/>
              </a:ext>
            </a:extLst>
          </p:cNvPr>
          <p:cNvSpPr>
            <a:spLocks xmlns:a="http://schemas.openxmlformats.org/drawingml/2006/main" noGrp="1"/>
          </p:cNvSpPr>
          <p:nvPr/>
        </p:nvSpPr>
        <p:spPr>
          <a:xfrm xmlns:a="http://schemas.openxmlformats.org/drawingml/2006/main">
            <a:off x="1047750" y="342900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71F33"/>
                </a:solidFill>
                <a:latin typeface="Helvetica Neue"/>
                <a:ea typeface="Helvetica Neue"/>
                <a:cs typeface="Helvetica Neue"/>
              </a:defRPr>
            </a:pPr>
            <a:r>
              <a:rPr sz="1875" b="1">
                <a:solidFill>
                  <a:srgbClr val="071F33"/>
                </a:solidFill>
                <a:latin typeface="Helvetica Neue"/>
                <a:ea typeface="Helvetica Neue"/>
                <a:cs typeface="Helvetica Neue"/>
              </a:rPr>
              <a:t>Nuclear receptor assays</a:t>
            </a:r>
          </a:p>
        </p:txBody>
      </p:sp>
      <p:sp>
        <p:nvSpPr>
          <p:cNvPr id="14" name="">
            <a:extLst xmlns:a="http://schemas.openxmlformats.org/drawingml/2006/main">
              <a:ext uri="{FF2B5EF4-FFF2-40B4-BE49-F238E27FC236}">
                <a16:creationId xmlns:a16="http://schemas.microsoft.com/office/drawing/2014/main" id="{E61B1336-FD18-424A-B8BA-6C4BE0529482}"/>
              </a:ext>
            </a:extLst>
          </p:cNvPr>
          <p:cNvSpPr>
            <a:spLocks xmlns:a="http://schemas.openxmlformats.org/drawingml/2006/main" noGrp="1"/>
          </p:cNvSpPr>
          <p:nvPr/>
        </p:nvSpPr>
        <p:spPr>
          <a:xfrm xmlns:a="http://schemas.openxmlformats.org/drawingml/2006/main">
            <a:off x="1047750" y="392430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22638"/>
                </a:solidFill>
                <a:latin typeface="Helvetica Neue"/>
                <a:ea typeface="Helvetica Neue"/>
                <a:cs typeface="Helvetica Neue"/>
              </a:defRPr>
            </a:pPr>
            <a:r>
              <a:rPr sz="1575" b="0">
                <a:solidFill>
                  <a:srgbClr val="122638"/>
                </a:solidFill>
                <a:latin typeface="Helvetica Neue"/>
                <a:ea typeface="Helvetica Neue"/>
                <a:cs typeface="Helvetica Neue"/>
              </a:rPr>
              <a:t>AR, AR-LBD, AhR, Aromatase, ER,</a:t>
            </a:r>
          </a:p>
          <a:p xmlns:a="http://schemas.openxmlformats.org/drawingml/2006/main">
            <a:pPr algn="l">
              <a:defRPr sz="1575" b="0">
                <a:solidFill>
                  <a:srgbClr val="122638"/>
                </a:solidFill>
                <a:latin typeface="Helvetica Neue"/>
                <a:ea typeface="Helvetica Neue"/>
                <a:cs typeface="Helvetica Neue"/>
              </a:defRPr>
            </a:pPr>
            <a:r>
              <a:rPr sz="1575" b="0">
                <a:solidFill>
                  <a:srgbClr val="122638"/>
                </a:solidFill>
                <a:latin typeface="Helvetica Neue"/>
                <a:ea typeface="Helvetica Neue"/>
                <a:cs typeface="Helvetica Neue"/>
              </a:rPr>
              <a:t>ER-LBD and PPAR-gamma</a:t>
            </a:r>
          </a:p>
        </p:txBody>
      </p:sp>
      <p:sp>
        <p:nvSpPr>
          <p:cNvPr id="15" name="">
            <a:extLst xmlns:a="http://schemas.openxmlformats.org/drawingml/2006/main">
              <a:ext uri="{FF2B5EF4-FFF2-40B4-BE49-F238E27FC236}">
                <a16:creationId xmlns:a16="http://schemas.microsoft.com/office/drawing/2014/main" id="{DE00AA0D-797B-4AF5-A93B-E354C7137CF5}"/>
              </a:ext>
            </a:extLst>
          </p:cNvPr>
          <p:cNvSpPr>
            <a:spLocks xmlns:a="http://schemas.openxmlformats.org/drawingml/2006/main" noGrp="1"/>
          </p:cNvSpPr>
          <p:nvPr/>
        </p:nvSpPr>
        <p:spPr>
          <a:xfrm xmlns:a="http://schemas.openxmlformats.org/drawingml/2006/main">
            <a:off x="6381750" y="3143250"/>
            <a:ext cx="5048250" cy="1714500"/>
          </a:xfrm>
          <a:prstGeom xmlns:a="http://schemas.openxmlformats.org/drawingml/2006/main" prst="roundRect">
            <a:avLst>
              <a:gd name="adj" fmla="val 4444"/>
            </a:avLst>
          </a:prstGeom>
          <a:solidFill xmlns:a="http://schemas.openxmlformats.org/drawingml/2006/main">
            <a:srgbClr val="E8F1FA"/>
          </a:solidFill>
          <a:ln xmlns:a="http://schemas.openxmlformats.org/drawingml/2006/main" w="9525">
            <a:solidFill>
              <a:srgbClr val="E8F1FA"/>
            </a:solidFill>
          </a:ln>
        </p:spPr>
      </p:sp>
      <p:sp>
        <p:nvSpPr>
          <p:cNvPr id="16" name="">
            <a:extLst xmlns:a="http://schemas.openxmlformats.org/drawingml/2006/main">
              <a:ext uri="{FF2B5EF4-FFF2-40B4-BE49-F238E27FC236}">
                <a16:creationId xmlns:a16="http://schemas.microsoft.com/office/drawing/2014/main" id="{81AD07F8-6AC7-402F-9212-46BD5F33EAFE}"/>
              </a:ext>
            </a:extLst>
          </p:cNvPr>
          <p:cNvSpPr>
            <a:spLocks xmlns:a="http://schemas.openxmlformats.org/drawingml/2006/main" noGrp="1"/>
          </p:cNvSpPr>
          <p:nvPr/>
        </p:nvSpPr>
        <p:spPr>
          <a:xfrm xmlns:a="http://schemas.openxmlformats.org/drawingml/2006/main">
            <a:off x="6686550" y="34290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71F33"/>
                </a:solidFill>
                <a:latin typeface="Helvetica Neue"/>
                <a:ea typeface="Helvetica Neue"/>
                <a:cs typeface="Helvetica Neue"/>
              </a:defRPr>
            </a:pPr>
            <a:r>
              <a:rPr sz="1875" b="1">
                <a:solidFill>
                  <a:srgbClr val="071F33"/>
                </a:solidFill>
                <a:latin typeface="Helvetica Neue"/>
                <a:ea typeface="Helvetica Neue"/>
                <a:cs typeface="Helvetica Neue"/>
              </a:rPr>
              <a:t>Stress response assays</a:t>
            </a:r>
          </a:p>
        </p:txBody>
      </p:sp>
      <p:sp>
        <p:nvSpPr>
          <p:cNvPr id="17" name="">
            <a:extLst xmlns:a="http://schemas.openxmlformats.org/drawingml/2006/main">
              <a:ext uri="{FF2B5EF4-FFF2-40B4-BE49-F238E27FC236}">
                <a16:creationId xmlns:a16="http://schemas.microsoft.com/office/drawing/2014/main" id="{AE21CC69-1E84-4A8F-9EAE-73CC29EF2505}"/>
              </a:ext>
            </a:extLst>
          </p:cNvPr>
          <p:cNvSpPr>
            <a:spLocks xmlns:a="http://schemas.openxmlformats.org/drawingml/2006/main" noGrp="1"/>
          </p:cNvSpPr>
          <p:nvPr/>
        </p:nvSpPr>
        <p:spPr>
          <a:xfrm xmlns:a="http://schemas.openxmlformats.org/drawingml/2006/main">
            <a:off x="6686550" y="392430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22638"/>
                </a:solidFill>
                <a:latin typeface="Helvetica Neue"/>
                <a:ea typeface="Helvetica Neue"/>
                <a:cs typeface="Helvetica Neue"/>
              </a:defRPr>
            </a:pPr>
            <a:r>
              <a:rPr sz="1575" b="0">
                <a:solidFill>
                  <a:srgbClr val="122638"/>
                </a:solidFill>
                <a:latin typeface="Helvetica Neue"/>
                <a:ea typeface="Helvetica Neue"/>
                <a:cs typeface="Helvetica Neue"/>
              </a:rPr>
              <a:t>ARE, ATAD5, HSE, MMP and p53</a:t>
            </a:r>
          </a:p>
        </p:txBody>
      </p:sp>
      <p:sp>
        <p:nvSpPr>
          <p:cNvPr id="18" name="">
            <a:extLst xmlns:a="http://schemas.openxmlformats.org/drawingml/2006/main">
              <a:ext uri="{FF2B5EF4-FFF2-40B4-BE49-F238E27FC236}">
                <a16:creationId xmlns:a16="http://schemas.microsoft.com/office/drawing/2014/main" id="{32F3DE74-B987-4C96-92DF-14A75EF0C6D8}"/>
              </a:ext>
            </a:extLst>
          </p:cNvPr>
          <p:cNvSpPr>
            <a:spLocks xmlns:a="http://schemas.openxmlformats.org/drawingml/2006/main" noGrp="1"/>
          </p:cNvSpPr>
          <p:nvPr/>
        </p:nvSpPr>
        <p:spPr>
          <a:xfrm xmlns:a="http://schemas.openxmlformats.org/drawingml/2006/main">
            <a:off x="742950" y="538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C2413A"/>
                </a:solidFill>
                <a:latin typeface="Helvetica Neue"/>
                <a:ea typeface="Helvetica Neue"/>
                <a:cs typeface="Helvetica Neue"/>
              </a:defRPr>
            </a:pPr>
            <a:r>
              <a:rPr sz="1725" b="1">
                <a:solidFill>
                  <a:srgbClr val="C2413A"/>
                </a:solidFill>
                <a:latin typeface="Helvetica Neue"/>
                <a:ea typeface="Helvetica Neue"/>
                <a:cs typeface="Helvetica Neue"/>
              </a:rPr>
              <a:t>Blank label = not measured. It must not be treated as inactive.</a:t>
            </a:r>
          </a:p>
        </p:txBody>
      </p:sp>
      <p:sp>
        <p:nvSpPr>
          <p:cNvPr id="19" name="">
            <a:extLst xmlns:a="http://schemas.openxmlformats.org/drawingml/2006/main">
              <a:ext uri="{FF2B5EF4-FFF2-40B4-BE49-F238E27FC236}">
                <a16:creationId xmlns:a16="http://schemas.microsoft.com/office/drawing/2014/main" id="{7AE59E25-801C-48E6-B7DA-81C4A05E3C65}"/>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106655624"/>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887B7F1-D5C0-4199-95BD-8FC1B5CAC801}"/>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Existing approaches</a:t>
            </a:r>
          </a:p>
        </p:txBody>
      </p:sp>
      <p:sp>
        <p:nvSpPr>
          <p:cNvPr id="2" name="">
            <a:extLst xmlns:a="http://schemas.openxmlformats.org/drawingml/2006/main">
              <a:ext uri="{FF2B5EF4-FFF2-40B4-BE49-F238E27FC236}">
                <a16:creationId xmlns:a16="http://schemas.microsoft.com/office/drawing/2014/main" id="{680112D0-4642-4383-B9C7-6AF572F75773}"/>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3A07BB5A-BA3E-41D9-BDD7-0D4C9D56F056}"/>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C1B93E1C-F298-4E82-9E24-C971A534D747}"/>
              </a:ext>
            </a:extLst>
          </p:cNvPr>
          <p:cNvSpPr>
            <a:spLocks xmlns:a="http://schemas.openxmlformats.org/drawingml/2006/main" noGrp="1"/>
          </p:cNvSpPr>
          <p:nvPr/>
        </p:nvSpPr>
        <p:spPr>
          <a:xfrm xmlns:a="http://schemas.openxmlformats.org/drawingml/2006/main">
            <a:off x="685800" y="1476375"/>
            <a:ext cx="2190750" cy="3714750"/>
          </a:xfrm>
          <a:prstGeom xmlns:a="http://schemas.openxmlformats.org/drawingml/2006/main" prst="roundRect">
            <a:avLst>
              <a:gd name="adj" fmla="val 3478"/>
            </a:avLst>
          </a:prstGeom>
          <a:solidFill xmlns:a="http://schemas.openxmlformats.org/drawingml/2006/main">
            <a:srgbClr val="E7EFF6"/>
          </a:solidFill>
          <a:ln xmlns:a="http://schemas.openxmlformats.org/drawingml/2006/main" w="9525">
            <a:solidFill>
              <a:srgbClr val="E7EFF6"/>
            </a:solidFill>
          </a:ln>
        </p:spPr>
      </p:sp>
      <p:sp>
        <p:nvSpPr>
          <p:cNvPr id="5" name="">
            <a:extLst xmlns:a="http://schemas.openxmlformats.org/drawingml/2006/main">
              <a:ext uri="{FF2B5EF4-FFF2-40B4-BE49-F238E27FC236}">
                <a16:creationId xmlns:a16="http://schemas.microsoft.com/office/drawing/2014/main" id="{9F1875BD-A6F4-45C5-BDC1-0E3C3EA7A17C}"/>
              </a:ext>
            </a:extLst>
          </p:cNvPr>
          <p:cNvSpPr>
            <a:spLocks xmlns:a="http://schemas.openxmlformats.org/drawingml/2006/main" noGrp="1"/>
          </p:cNvSpPr>
          <p:nvPr/>
        </p:nvSpPr>
        <p:spPr>
          <a:xfrm xmlns:a="http://schemas.openxmlformats.org/drawingml/2006/main">
            <a:off x="895350" y="16954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45FC656C-701E-4442-8888-BE28529DDA86}"/>
              </a:ext>
            </a:extLst>
          </p:cNvPr>
          <p:cNvSpPr>
            <a:spLocks xmlns:a="http://schemas.openxmlformats.org/drawingml/2006/main" noGrp="1"/>
          </p:cNvSpPr>
          <p:nvPr/>
        </p:nvSpPr>
        <p:spPr>
          <a:xfrm xmlns:a="http://schemas.openxmlformats.org/drawingml/2006/main">
            <a:off x="895350" y="2114550"/>
            <a:ext cx="1771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71F33"/>
                </a:solidFill>
                <a:latin typeface="Helvetica Neue"/>
                <a:ea typeface="Helvetica Neue"/>
                <a:cs typeface="Helvetica Neue"/>
              </a:defRPr>
            </a:pPr>
            <a:r>
              <a:rPr sz="1800" b="1">
                <a:solidFill>
                  <a:srgbClr val="071F33"/>
                </a:solidFill>
                <a:latin typeface="Helvetica Neue"/>
                <a:ea typeface="Helvetica Neue"/>
                <a:cs typeface="Helvetica Neue"/>
              </a:rPr>
              <a:t>Experimental assays</a:t>
            </a:r>
          </a:p>
        </p:txBody>
      </p:sp>
      <p:sp>
        <p:nvSpPr>
          <p:cNvPr id="7" name="">
            <a:extLst xmlns:a="http://schemas.openxmlformats.org/drawingml/2006/main">
              <a:ext uri="{FF2B5EF4-FFF2-40B4-BE49-F238E27FC236}">
                <a16:creationId xmlns:a16="http://schemas.microsoft.com/office/drawing/2014/main" id="{5C53AA18-58E5-46EF-9900-15AE4DEC0D06}"/>
              </a:ext>
            </a:extLst>
          </p:cNvPr>
          <p:cNvSpPr>
            <a:spLocks xmlns:a="http://schemas.openxmlformats.org/drawingml/2006/main" noGrp="1"/>
          </p:cNvSpPr>
          <p:nvPr/>
        </p:nvSpPr>
        <p:spPr>
          <a:xfrm xmlns:a="http://schemas.openxmlformats.org/drawingml/2006/main">
            <a:off x="895350" y="2952750"/>
            <a:ext cx="17716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Direct biological measurement</a:t>
            </a:r>
          </a:p>
          <a:p xmlns:a="http://schemas.openxmlformats.org/drawingml/2006/main">
            <a:r>
              <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Strong evidence</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Higher cost and slower throughput</a:t>
            </a:r>
          </a:p>
        </p:txBody>
      </p:sp>
      <p:sp>
        <p:nvSpPr>
          <p:cNvPr id="8" name="">
            <a:extLst xmlns:a="http://schemas.openxmlformats.org/drawingml/2006/main">
              <a:ext uri="{FF2B5EF4-FFF2-40B4-BE49-F238E27FC236}">
                <a16:creationId xmlns:a16="http://schemas.microsoft.com/office/drawing/2014/main" id="{F88E69F0-FB96-4D31-B29B-95614D225816}"/>
              </a:ext>
            </a:extLst>
          </p:cNvPr>
          <p:cNvSpPr>
            <a:spLocks xmlns:a="http://schemas.openxmlformats.org/drawingml/2006/main" noGrp="1"/>
          </p:cNvSpPr>
          <p:nvPr/>
        </p:nvSpPr>
        <p:spPr>
          <a:xfrm xmlns:a="http://schemas.openxmlformats.org/drawingml/2006/main">
            <a:off x="3352800" y="1476375"/>
            <a:ext cx="2190750" cy="3714750"/>
          </a:xfrm>
          <a:prstGeom xmlns:a="http://schemas.openxmlformats.org/drawingml/2006/main" prst="roundRect">
            <a:avLst>
              <a:gd name="adj" fmla="val 3478"/>
            </a:avLst>
          </a:prstGeom>
          <a:solidFill xmlns:a="http://schemas.openxmlformats.org/drawingml/2006/main">
            <a:srgbClr val="F8EED8"/>
          </a:solidFill>
          <a:ln xmlns:a="http://schemas.openxmlformats.org/drawingml/2006/main" w="9525">
            <a:solidFill>
              <a:srgbClr val="F8EED8"/>
            </a:solidFill>
          </a:ln>
        </p:spPr>
      </p:sp>
      <p:sp>
        <p:nvSpPr>
          <p:cNvPr id="9" name="">
            <a:extLst xmlns:a="http://schemas.openxmlformats.org/drawingml/2006/main">
              <a:ext uri="{FF2B5EF4-FFF2-40B4-BE49-F238E27FC236}">
                <a16:creationId xmlns:a16="http://schemas.microsoft.com/office/drawing/2014/main" id="{C1F6F063-FDDE-44E7-B172-272567C03B2B}"/>
              </a:ext>
            </a:extLst>
          </p:cNvPr>
          <p:cNvSpPr>
            <a:spLocks xmlns:a="http://schemas.openxmlformats.org/drawingml/2006/main" noGrp="1"/>
          </p:cNvSpPr>
          <p:nvPr/>
        </p:nvSpPr>
        <p:spPr>
          <a:xfrm xmlns:a="http://schemas.openxmlformats.org/drawingml/2006/main">
            <a:off x="3562350" y="16954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9AB18BE6-7486-4AA1-9F76-D475C18FA180}"/>
              </a:ext>
            </a:extLst>
          </p:cNvPr>
          <p:cNvSpPr>
            <a:spLocks xmlns:a="http://schemas.openxmlformats.org/drawingml/2006/main" noGrp="1"/>
          </p:cNvSpPr>
          <p:nvPr/>
        </p:nvSpPr>
        <p:spPr>
          <a:xfrm xmlns:a="http://schemas.openxmlformats.org/drawingml/2006/main">
            <a:off x="3562350" y="2114550"/>
            <a:ext cx="1771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71F33"/>
                </a:solidFill>
                <a:latin typeface="Helvetica Neue"/>
                <a:ea typeface="Helvetica Neue"/>
                <a:cs typeface="Helvetica Neue"/>
              </a:defRPr>
            </a:pPr>
            <a:r>
              <a:rPr sz="1800" b="1">
                <a:solidFill>
                  <a:srgbClr val="071F33"/>
                </a:solidFill>
                <a:latin typeface="Helvetica Neue"/>
                <a:ea typeface="Helvetica Neue"/>
                <a:cs typeface="Helvetica Neue"/>
              </a:rPr>
              <a:t>Rule-based alerts</a:t>
            </a:r>
          </a:p>
        </p:txBody>
      </p:sp>
      <p:sp>
        <p:nvSpPr>
          <p:cNvPr id="11" name="">
            <a:extLst xmlns:a="http://schemas.openxmlformats.org/drawingml/2006/main">
              <a:ext uri="{FF2B5EF4-FFF2-40B4-BE49-F238E27FC236}">
                <a16:creationId xmlns:a16="http://schemas.microsoft.com/office/drawing/2014/main" id="{299D9E0E-5E48-4C92-AEF0-BE258D27D4B7}"/>
              </a:ext>
            </a:extLst>
          </p:cNvPr>
          <p:cNvSpPr>
            <a:spLocks xmlns:a="http://schemas.openxmlformats.org/drawingml/2006/main" noGrp="1"/>
          </p:cNvSpPr>
          <p:nvPr/>
        </p:nvSpPr>
        <p:spPr>
          <a:xfrm xmlns:a="http://schemas.openxmlformats.org/drawingml/2006/main">
            <a:off x="3562350" y="2952750"/>
            <a:ext cx="17716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Known toxicophores and expert rules</a:t>
            </a:r>
          </a:p>
          <a:p xmlns:a="http://schemas.openxmlformats.org/drawingml/2006/main">
            <a:r>
              <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Easy to explain</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Limited to recognised patterns</a:t>
            </a:r>
          </a:p>
        </p:txBody>
      </p:sp>
      <p:sp>
        <p:nvSpPr>
          <p:cNvPr id="12" name="">
            <a:extLst xmlns:a="http://schemas.openxmlformats.org/drawingml/2006/main">
              <a:ext uri="{FF2B5EF4-FFF2-40B4-BE49-F238E27FC236}">
                <a16:creationId xmlns:a16="http://schemas.microsoft.com/office/drawing/2014/main" id="{97B4DEE4-8076-4AC0-BC85-5C5956A080CB}"/>
              </a:ext>
            </a:extLst>
          </p:cNvPr>
          <p:cNvSpPr>
            <a:spLocks xmlns:a="http://schemas.openxmlformats.org/drawingml/2006/main" noGrp="1"/>
          </p:cNvSpPr>
          <p:nvPr/>
        </p:nvSpPr>
        <p:spPr>
          <a:xfrm xmlns:a="http://schemas.openxmlformats.org/drawingml/2006/main">
            <a:off x="6019800" y="1476375"/>
            <a:ext cx="2190750" cy="3714750"/>
          </a:xfrm>
          <a:prstGeom xmlns:a="http://schemas.openxmlformats.org/drawingml/2006/main" prst="roundRect">
            <a:avLst>
              <a:gd name="adj" fmla="val 3478"/>
            </a:avLst>
          </a:prstGeom>
          <a:solidFill xmlns:a="http://schemas.openxmlformats.org/drawingml/2006/main">
            <a:srgbClr val="E2F4EF"/>
          </a:solidFill>
          <a:ln xmlns:a="http://schemas.openxmlformats.org/drawingml/2006/main" w="9525">
            <a:solidFill>
              <a:srgbClr val="E2F4EF"/>
            </a:solidFill>
          </a:ln>
        </p:spPr>
      </p:sp>
      <p:sp>
        <p:nvSpPr>
          <p:cNvPr id="13" name="">
            <a:extLst xmlns:a="http://schemas.openxmlformats.org/drawingml/2006/main">
              <a:ext uri="{FF2B5EF4-FFF2-40B4-BE49-F238E27FC236}">
                <a16:creationId xmlns:a16="http://schemas.microsoft.com/office/drawing/2014/main" id="{E4E63BE2-57A3-402F-8DA4-2DBA2D604094}"/>
              </a:ext>
            </a:extLst>
          </p:cNvPr>
          <p:cNvSpPr>
            <a:spLocks xmlns:a="http://schemas.openxmlformats.org/drawingml/2006/main" noGrp="1"/>
          </p:cNvSpPr>
          <p:nvPr/>
        </p:nvSpPr>
        <p:spPr>
          <a:xfrm xmlns:a="http://schemas.openxmlformats.org/drawingml/2006/main">
            <a:off x="6229350" y="16954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F52B1572-F583-4DD5-B764-2FD76A3C36E0}"/>
              </a:ext>
            </a:extLst>
          </p:cNvPr>
          <p:cNvSpPr>
            <a:spLocks xmlns:a="http://schemas.openxmlformats.org/drawingml/2006/main" noGrp="1"/>
          </p:cNvSpPr>
          <p:nvPr/>
        </p:nvSpPr>
        <p:spPr>
          <a:xfrm xmlns:a="http://schemas.openxmlformats.org/drawingml/2006/main">
            <a:off x="6229350" y="2114550"/>
            <a:ext cx="1771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71F33"/>
                </a:solidFill>
                <a:latin typeface="Helvetica Neue"/>
                <a:ea typeface="Helvetica Neue"/>
                <a:cs typeface="Helvetica Neue"/>
              </a:defRPr>
            </a:pPr>
            <a:r>
              <a:rPr sz="1800" b="1">
                <a:solidFill>
                  <a:srgbClr val="071F33"/>
                </a:solidFill>
                <a:latin typeface="Helvetica Neue"/>
                <a:ea typeface="Helvetica Neue"/>
                <a:cs typeface="Helvetica Neue"/>
              </a:rPr>
              <a:t>Single-task QSAR</a:t>
            </a:r>
          </a:p>
        </p:txBody>
      </p:sp>
      <p:sp>
        <p:nvSpPr>
          <p:cNvPr id="15" name="">
            <a:extLst xmlns:a="http://schemas.openxmlformats.org/drawingml/2006/main">
              <a:ext uri="{FF2B5EF4-FFF2-40B4-BE49-F238E27FC236}">
                <a16:creationId xmlns:a16="http://schemas.microsoft.com/office/drawing/2014/main" id="{64635E02-320E-4A94-B544-FA416D4DA03C}"/>
              </a:ext>
            </a:extLst>
          </p:cNvPr>
          <p:cNvSpPr>
            <a:spLocks xmlns:a="http://schemas.openxmlformats.org/drawingml/2006/main" noGrp="1"/>
          </p:cNvSpPr>
          <p:nvPr/>
        </p:nvSpPr>
        <p:spPr>
          <a:xfrm xmlns:a="http://schemas.openxmlformats.org/drawingml/2006/main">
            <a:off x="6229350" y="2952750"/>
            <a:ext cx="17716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One model for each assay</a:t>
            </a:r>
          </a:p>
          <a:p xmlns:a="http://schemas.openxmlformats.org/drawingml/2006/main">
            <a:r>
              <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Simple and fast</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Does not share information</a:t>
            </a:r>
          </a:p>
        </p:txBody>
      </p:sp>
      <p:sp>
        <p:nvSpPr>
          <p:cNvPr id="16" name="">
            <a:extLst xmlns:a="http://schemas.openxmlformats.org/drawingml/2006/main">
              <a:ext uri="{FF2B5EF4-FFF2-40B4-BE49-F238E27FC236}">
                <a16:creationId xmlns:a16="http://schemas.microsoft.com/office/drawing/2014/main" id="{2E238913-444E-4211-9598-D31F5F134595}"/>
              </a:ext>
            </a:extLst>
          </p:cNvPr>
          <p:cNvSpPr>
            <a:spLocks xmlns:a="http://schemas.openxmlformats.org/drawingml/2006/main" noGrp="1"/>
          </p:cNvSpPr>
          <p:nvPr/>
        </p:nvSpPr>
        <p:spPr>
          <a:xfrm xmlns:a="http://schemas.openxmlformats.org/drawingml/2006/main">
            <a:off x="8686800" y="1476375"/>
            <a:ext cx="2190750" cy="3714750"/>
          </a:xfrm>
          <a:prstGeom xmlns:a="http://schemas.openxmlformats.org/drawingml/2006/main" prst="roundRect">
            <a:avLst>
              <a:gd name="adj" fmla="val 3478"/>
            </a:avLst>
          </a:prstGeom>
          <a:solidFill xmlns:a="http://schemas.openxmlformats.org/drawingml/2006/main">
            <a:srgbClr val="E9E8F8"/>
          </a:solidFill>
          <a:ln xmlns:a="http://schemas.openxmlformats.org/drawingml/2006/main" w="9525">
            <a:solidFill>
              <a:srgbClr val="E9E8F8"/>
            </a:solidFill>
          </a:ln>
        </p:spPr>
      </p:sp>
      <p:sp>
        <p:nvSpPr>
          <p:cNvPr id="17" name="">
            <a:extLst xmlns:a="http://schemas.openxmlformats.org/drawingml/2006/main">
              <a:ext uri="{FF2B5EF4-FFF2-40B4-BE49-F238E27FC236}">
                <a16:creationId xmlns:a16="http://schemas.microsoft.com/office/drawing/2014/main" id="{2BA62E74-0631-42C6-BE9A-4B36AF688B1D}"/>
              </a:ext>
            </a:extLst>
          </p:cNvPr>
          <p:cNvSpPr>
            <a:spLocks xmlns:a="http://schemas.openxmlformats.org/drawingml/2006/main" noGrp="1"/>
          </p:cNvSpPr>
          <p:nvPr/>
        </p:nvSpPr>
        <p:spPr>
          <a:xfrm xmlns:a="http://schemas.openxmlformats.org/drawingml/2006/main">
            <a:off x="8896350" y="16954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04</a:t>
            </a:r>
          </a:p>
        </p:txBody>
      </p:sp>
      <p:sp>
        <p:nvSpPr>
          <p:cNvPr id="18" name="">
            <a:extLst xmlns:a="http://schemas.openxmlformats.org/drawingml/2006/main">
              <a:ext uri="{FF2B5EF4-FFF2-40B4-BE49-F238E27FC236}">
                <a16:creationId xmlns:a16="http://schemas.microsoft.com/office/drawing/2014/main" id="{F265A0FF-0A2E-4052-BCFC-CA1235CCD98D}"/>
              </a:ext>
            </a:extLst>
          </p:cNvPr>
          <p:cNvSpPr>
            <a:spLocks xmlns:a="http://schemas.openxmlformats.org/drawingml/2006/main" noGrp="1"/>
          </p:cNvSpPr>
          <p:nvPr/>
        </p:nvSpPr>
        <p:spPr>
          <a:xfrm xmlns:a="http://schemas.openxmlformats.org/drawingml/2006/main">
            <a:off x="8896350" y="2114550"/>
            <a:ext cx="1771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71F33"/>
                </a:solidFill>
                <a:latin typeface="Helvetica Neue"/>
                <a:ea typeface="Helvetica Neue"/>
                <a:cs typeface="Helvetica Neue"/>
              </a:defRPr>
            </a:pPr>
            <a:r>
              <a:rPr sz="1800" b="1">
                <a:solidFill>
                  <a:srgbClr val="071F33"/>
                </a:solidFill>
                <a:latin typeface="Helvetica Neue"/>
                <a:ea typeface="Helvetica Neue"/>
                <a:cs typeface="Helvetica Neue"/>
              </a:rPr>
              <a:t>Deep learning</a:t>
            </a:r>
          </a:p>
        </p:txBody>
      </p:sp>
      <p:sp>
        <p:nvSpPr>
          <p:cNvPr id="19" name="">
            <a:extLst xmlns:a="http://schemas.openxmlformats.org/drawingml/2006/main">
              <a:ext uri="{FF2B5EF4-FFF2-40B4-BE49-F238E27FC236}">
                <a16:creationId xmlns:a16="http://schemas.microsoft.com/office/drawing/2014/main" id="{CB953068-CF03-4A96-8A36-4F7BF8DA5614}"/>
              </a:ext>
            </a:extLst>
          </p:cNvPr>
          <p:cNvSpPr>
            <a:spLocks xmlns:a="http://schemas.openxmlformats.org/drawingml/2006/main" noGrp="1"/>
          </p:cNvSpPr>
          <p:nvPr/>
        </p:nvSpPr>
        <p:spPr>
          <a:xfrm xmlns:a="http://schemas.openxmlformats.org/drawingml/2006/main">
            <a:off x="8896350" y="2952750"/>
            <a:ext cx="17716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Learns nonlinear structure patterns</a:t>
            </a:r>
          </a:p>
          <a:p xmlns:a="http://schemas.openxmlformats.org/drawingml/2006/main">
            <a:r>
              <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Can share representations</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Needs careful validation</a:t>
            </a:r>
          </a:p>
        </p:txBody>
      </p:sp>
      <p:sp>
        <p:nvSpPr>
          <p:cNvPr id="20" name="">
            <a:extLst xmlns:a="http://schemas.openxmlformats.org/drawingml/2006/main">
              <a:ext uri="{FF2B5EF4-FFF2-40B4-BE49-F238E27FC236}">
                <a16:creationId xmlns:a16="http://schemas.microsoft.com/office/drawing/2014/main" id="{72765E4F-FACA-40EC-9A01-6CC4EEA85131}"/>
              </a:ext>
            </a:extLst>
          </p:cNvPr>
          <p:cNvSpPr>
            <a:spLocks xmlns:a="http://schemas.openxmlformats.org/drawingml/2006/main" noGrp="1"/>
          </p:cNvSpPr>
          <p:nvPr/>
        </p:nvSpPr>
        <p:spPr>
          <a:xfrm xmlns:a="http://schemas.openxmlformats.org/drawingml/2006/main">
            <a:off x="1047750" y="557212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155E75"/>
                </a:solidFill>
                <a:latin typeface="Helvetica Neue"/>
                <a:ea typeface="Helvetica Neue"/>
                <a:cs typeface="Helvetica Neue"/>
              </a:defRPr>
            </a:pPr>
            <a:r>
              <a:rPr sz="1725" b="1">
                <a:solidFill>
                  <a:srgbClr val="155E75"/>
                </a:solidFill>
                <a:latin typeface="Helvetica Neue"/>
                <a:ea typeface="Helvetica Neue"/>
                <a:cs typeface="Helvetica Neue"/>
              </a:rPr>
              <a:t>This project compares a shared multi-task neural network with 12 separate logistic-regression models.</a:t>
            </a:r>
          </a:p>
        </p:txBody>
      </p:sp>
      <p:sp>
        <p:nvSpPr>
          <p:cNvPr id="21" name="">
            <a:extLst xmlns:a="http://schemas.openxmlformats.org/drawingml/2006/main">
              <a:ext uri="{FF2B5EF4-FFF2-40B4-BE49-F238E27FC236}">
                <a16:creationId xmlns:a16="http://schemas.microsoft.com/office/drawing/2014/main" id="{47AE631F-FAE0-461A-9D32-F53EFBA0B14B}"/>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21403767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7F6028B-2DAC-4D95-9C7D-AD762D53CDFD}"/>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Proposed workflow</a:t>
            </a:r>
          </a:p>
        </p:txBody>
      </p:sp>
      <p:sp>
        <p:nvSpPr>
          <p:cNvPr id="2" name="">
            <a:extLst xmlns:a="http://schemas.openxmlformats.org/drawingml/2006/main">
              <a:ext uri="{FF2B5EF4-FFF2-40B4-BE49-F238E27FC236}">
                <a16:creationId xmlns:a16="http://schemas.microsoft.com/office/drawing/2014/main" id="{6D426033-BC0F-4749-A4A9-3F8E575A592A}"/>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C81095E7-13C0-45AB-A52A-128223B65EA2}"/>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974FCB73-A9B4-4AA6-B7E3-7EDFCBDB5033}"/>
              </a:ext>
            </a:extLst>
          </p:cNvPr>
          <p:cNvSpPr>
            <a:spLocks xmlns:a="http://schemas.openxmlformats.org/drawingml/2006/main" noGrp="1"/>
          </p:cNvSpPr>
          <p:nvPr/>
        </p:nvSpPr>
        <p:spPr>
          <a:xfrm xmlns:a="http://schemas.openxmlformats.org/drawingml/2006/main">
            <a:off x="523875"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5" name="">
            <a:extLst xmlns:a="http://schemas.openxmlformats.org/drawingml/2006/main">
              <a:ext uri="{FF2B5EF4-FFF2-40B4-BE49-F238E27FC236}">
                <a16:creationId xmlns:a16="http://schemas.microsoft.com/office/drawing/2014/main" id="{87C6221E-A7A7-4873-A2AA-ED960A6E13C7}"/>
              </a:ext>
            </a:extLst>
          </p:cNvPr>
          <p:cNvSpPr>
            <a:spLocks xmlns:a="http://schemas.openxmlformats.org/drawingml/2006/main" noGrp="1"/>
          </p:cNvSpPr>
          <p:nvPr/>
        </p:nvSpPr>
        <p:spPr>
          <a:xfrm xmlns:a="http://schemas.openxmlformats.org/drawingml/2006/main">
            <a:off x="657225" y="2352675"/>
            <a:ext cx="116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Tox21 CSV</a:t>
            </a:r>
          </a:p>
        </p:txBody>
      </p:sp>
      <p:sp>
        <p:nvSpPr>
          <p:cNvPr id="6" name="">
            <a:extLst xmlns:a="http://schemas.openxmlformats.org/drawingml/2006/main">
              <a:ext uri="{FF2B5EF4-FFF2-40B4-BE49-F238E27FC236}">
                <a16:creationId xmlns:a16="http://schemas.microsoft.com/office/drawing/2014/main" id="{14C80A0B-BEB7-4F6A-87F5-F195557EED32}"/>
              </a:ext>
            </a:extLst>
          </p:cNvPr>
          <p:cNvSpPr>
            <a:spLocks xmlns:a="http://schemas.openxmlformats.org/drawingml/2006/main" noGrp="1"/>
          </p:cNvSpPr>
          <p:nvPr/>
        </p:nvSpPr>
        <p:spPr>
          <a:xfrm xmlns:a="http://schemas.openxmlformats.org/drawingml/2006/main">
            <a:off x="657225" y="2676525"/>
            <a:ext cx="11620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Structures and sparse assay labels</a:t>
            </a:r>
          </a:p>
        </p:txBody>
      </p:sp>
      <p:sp>
        <p:nvSpPr>
          <p:cNvPr id="7" name="">
            <a:extLst xmlns:a="http://schemas.openxmlformats.org/drawingml/2006/main">
              <a:ext uri="{FF2B5EF4-FFF2-40B4-BE49-F238E27FC236}">
                <a16:creationId xmlns:a16="http://schemas.microsoft.com/office/drawing/2014/main" id="{022B8615-BB6D-4AE7-915F-9CC830D2043B}"/>
              </a:ext>
            </a:extLst>
          </p:cNvPr>
          <p:cNvSpPr>
            <a:spLocks xmlns:a="http://schemas.openxmlformats.org/drawingml/2006/main" noGrp="1"/>
          </p:cNvSpPr>
          <p:nvPr/>
        </p:nvSpPr>
        <p:spPr>
          <a:xfrm xmlns:a="http://schemas.openxmlformats.org/drawingml/2006/main">
            <a:off x="2028825"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8" name="">
            <a:extLst xmlns:a="http://schemas.openxmlformats.org/drawingml/2006/main">
              <a:ext uri="{FF2B5EF4-FFF2-40B4-BE49-F238E27FC236}">
                <a16:creationId xmlns:a16="http://schemas.microsoft.com/office/drawing/2014/main" id="{B1374691-A0C8-46A4-BC25-F0714B777B45}"/>
              </a:ext>
            </a:extLst>
          </p:cNvPr>
          <p:cNvSpPr>
            <a:spLocks xmlns:a="http://schemas.openxmlformats.org/drawingml/2006/main" noGrp="1"/>
          </p:cNvSpPr>
          <p:nvPr/>
        </p:nvSpPr>
        <p:spPr>
          <a:xfrm xmlns:a="http://schemas.openxmlformats.org/drawingml/2006/main">
            <a:off x="2476500"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9" name="">
            <a:extLst xmlns:a="http://schemas.openxmlformats.org/drawingml/2006/main">
              <a:ext uri="{FF2B5EF4-FFF2-40B4-BE49-F238E27FC236}">
                <a16:creationId xmlns:a16="http://schemas.microsoft.com/office/drawing/2014/main" id="{3D285138-97BE-4349-A344-18E632754D89}"/>
              </a:ext>
            </a:extLst>
          </p:cNvPr>
          <p:cNvSpPr>
            <a:spLocks xmlns:a="http://schemas.openxmlformats.org/drawingml/2006/main" noGrp="1"/>
          </p:cNvSpPr>
          <p:nvPr/>
        </p:nvSpPr>
        <p:spPr>
          <a:xfrm xmlns:a="http://schemas.openxmlformats.org/drawingml/2006/main">
            <a:off x="2609850" y="2352675"/>
            <a:ext cx="116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Clean molecules</a:t>
            </a:r>
          </a:p>
        </p:txBody>
      </p:sp>
      <p:sp>
        <p:nvSpPr>
          <p:cNvPr id="10" name="">
            <a:extLst xmlns:a="http://schemas.openxmlformats.org/drawingml/2006/main">
              <a:ext uri="{FF2B5EF4-FFF2-40B4-BE49-F238E27FC236}">
                <a16:creationId xmlns:a16="http://schemas.microsoft.com/office/drawing/2014/main" id="{EEAC2B44-A933-49CE-9D5F-CFE3F0F9C564}"/>
              </a:ext>
            </a:extLst>
          </p:cNvPr>
          <p:cNvSpPr>
            <a:spLocks xmlns:a="http://schemas.openxmlformats.org/drawingml/2006/main" noGrp="1"/>
          </p:cNvSpPr>
          <p:nvPr/>
        </p:nvSpPr>
        <p:spPr>
          <a:xfrm xmlns:a="http://schemas.openxmlformats.org/drawingml/2006/main">
            <a:off x="2609850" y="2676525"/>
            <a:ext cx="11620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Validate and canonicalise SMILES</a:t>
            </a:r>
          </a:p>
        </p:txBody>
      </p:sp>
      <p:sp>
        <p:nvSpPr>
          <p:cNvPr id="11" name="">
            <a:extLst xmlns:a="http://schemas.openxmlformats.org/drawingml/2006/main">
              <a:ext uri="{FF2B5EF4-FFF2-40B4-BE49-F238E27FC236}">
                <a16:creationId xmlns:a16="http://schemas.microsoft.com/office/drawing/2014/main" id="{CA03421B-3CCA-4510-A0F5-02A0C4FC0465}"/>
              </a:ext>
            </a:extLst>
          </p:cNvPr>
          <p:cNvSpPr>
            <a:spLocks xmlns:a="http://schemas.openxmlformats.org/drawingml/2006/main" noGrp="1"/>
          </p:cNvSpPr>
          <p:nvPr/>
        </p:nvSpPr>
        <p:spPr>
          <a:xfrm xmlns:a="http://schemas.openxmlformats.org/drawingml/2006/main">
            <a:off x="3981450"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2" name="">
            <a:extLst xmlns:a="http://schemas.openxmlformats.org/drawingml/2006/main">
              <a:ext uri="{FF2B5EF4-FFF2-40B4-BE49-F238E27FC236}">
                <a16:creationId xmlns:a16="http://schemas.microsoft.com/office/drawing/2014/main" id="{27D13E40-CDBF-4A05-9815-0D4C4F5C95E8}"/>
              </a:ext>
            </a:extLst>
          </p:cNvPr>
          <p:cNvSpPr>
            <a:spLocks xmlns:a="http://schemas.openxmlformats.org/drawingml/2006/main" noGrp="1"/>
          </p:cNvSpPr>
          <p:nvPr/>
        </p:nvSpPr>
        <p:spPr>
          <a:xfrm xmlns:a="http://schemas.openxmlformats.org/drawingml/2006/main">
            <a:off x="4429125"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13" name="">
            <a:extLst xmlns:a="http://schemas.openxmlformats.org/drawingml/2006/main">
              <a:ext uri="{FF2B5EF4-FFF2-40B4-BE49-F238E27FC236}">
                <a16:creationId xmlns:a16="http://schemas.microsoft.com/office/drawing/2014/main" id="{43688926-8B23-4428-8E6D-67F96C001C46}"/>
              </a:ext>
            </a:extLst>
          </p:cNvPr>
          <p:cNvSpPr>
            <a:spLocks xmlns:a="http://schemas.openxmlformats.org/drawingml/2006/main" noGrp="1"/>
          </p:cNvSpPr>
          <p:nvPr/>
        </p:nvSpPr>
        <p:spPr>
          <a:xfrm xmlns:a="http://schemas.openxmlformats.org/drawingml/2006/main">
            <a:off x="4562475" y="2352675"/>
            <a:ext cx="116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Scaffold split</a:t>
            </a:r>
          </a:p>
        </p:txBody>
      </p:sp>
      <p:sp>
        <p:nvSpPr>
          <p:cNvPr id="14" name="">
            <a:extLst xmlns:a="http://schemas.openxmlformats.org/drawingml/2006/main">
              <a:ext uri="{FF2B5EF4-FFF2-40B4-BE49-F238E27FC236}">
                <a16:creationId xmlns:a16="http://schemas.microsoft.com/office/drawing/2014/main" id="{114FE342-4399-44A4-BC23-23349109E03E}"/>
              </a:ext>
            </a:extLst>
          </p:cNvPr>
          <p:cNvSpPr>
            <a:spLocks xmlns:a="http://schemas.openxmlformats.org/drawingml/2006/main" noGrp="1"/>
          </p:cNvSpPr>
          <p:nvPr/>
        </p:nvSpPr>
        <p:spPr>
          <a:xfrm xmlns:a="http://schemas.openxmlformats.org/drawingml/2006/main">
            <a:off x="4562475" y="2676525"/>
            <a:ext cx="11620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80% train, 10% validation, 10% test</a:t>
            </a:r>
          </a:p>
        </p:txBody>
      </p:sp>
      <p:sp>
        <p:nvSpPr>
          <p:cNvPr id="15" name="">
            <a:extLst xmlns:a="http://schemas.openxmlformats.org/drawingml/2006/main">
              <a:ext uri="{FF2B5EF4-FFF2-40B4-BE49-F238E27FC236}">
                <a16:creationId xmlns:a16="http://schemas.microsoft.com/office/drawing/2014/main" id="{82D9B170-7312-4C8B-82C5-0F5E27F5DE0B}"/>
              </a:ext>
            </a:extLst>
          </p:cNvPr>
          <p:cNvSpPr>
            <a:spLocks xmlns:a="http://schemas.openxmlformats.org/drawingml/2006/main" noGrp="1"/>
          </p:cNvSpPr>
          <p:nvPr/>
        </p:nvSpPr>
        <p:spPr>
          <a:xfrm xmlns:a="http://schemas.openxmlformats.org/drawingml/2006/main">
            <a:off x="5934075"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6" name="">
            <a:extLst xmlns:a="http://schemas.openxmlformats.org/drawingml/2006/main">
              <a:ext uri="{FF2B5EF4-FFF2-40B4-BE49-F238E27FC236}">
                <a16:creationId xmlns:a16="http://schemas.microsoft.com/office/drawing/2014/main" id="{EDE23B48-957A-4F7E-8BB8-EAA4C9151745}"/>
              </a:ext>
            </a:extLst>
          </p:cNvPr>
          <p:cNvSpPr>
            <a:spLocks xmlns:a="http://schemas.openxmlformats.org/drawingml/2006/main" noGrp="1"/>
          </p:cNvSpPr>
          <p:nvPr/>
        </p:nvSpPr>
        <p:spPr>
          <a:xfrm xmlns:a="http://schemas.openxmlformats.org/drawingml/2006/main">
            <a:off x="6381750"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17" name="">
            <a:extLst xmlns:a="http://schemas.openxmlformats.org/drawingml/2006/main">
              <a:ext uri="{FF2B5EF4-FFF2-40B4-BE49-F238E27FC236}">
                <a16:creationId xmlns:a16="http://schemas.microsoft.com/office/drawing/2014/main" id="{4D827B3D-9E0D-4F1C-8998-0F0006A6587E}"/>
              </a:ext>
            </a:extLst>
          </p:cNvPr>
          <p:cNvSpPr>
            <a:spLocks xmlns:a="http://schemas.openxmlformats.org/drawingml/2006/main" noGrp="1"/>
          </p:cNvSpPr>
          <p:nvPr/>
        </p:nvSpPr>
        <p:spPr>
          <a:xfrm xmlns:a="http://schemas.openxmlformats.org/drawingml/2006/main">
            <a:off x="6515100" y="2352675"/>
            <a:ext cx="116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Build features</a:t>
            </a:r>
          </a:p>
        </p:txBody>
      </p:sp>
      <p:sp>
        <p:nvSpPr>
          <p:cNvPr id="18" name="">
            <a:extLst xmlns:a="http://schemas.openxmlformats.org/drawingml/2006/main">
              <a:ext uri="{FF2B5EF4-FFF2-40B4-BE49-F238E27FC236}">
                <a16:creationId xmlns:a16="http://schemas.microsoft.com/office/drawing/2014/main" id="{08424F93-8334-4F06-830E-1236467EA857}"/>
              </a:ext>
            </a:extLst>
          </p:cNvPr>
          <p:cNvSpPr>
            <a:spLocks xmlns:a="http://schemas.openxmlformats.org/drawingml/2006/main" noGrp="1"/>
          </p:cNvSpPr>
          <p:nvPr/>
        </p:nvSpPr>
        <p:spPr>
          <a:xfrm xmlns:a="http://schemas.openxmlformats.org/drawingml/2006/main">
            <a:off x="6515100" y="2676525"/>
            <a:ext cx="11620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ECFP4 plus 8 descriptors</a:t>
            </a:r>
          </a:p>
        </p:txBody>
      </p:sp>
      <p:sp>
        <p:nvSpPr>
          <p:cNvPr id="19" name="">
            <a:extLst xmlns:a="http://schemas.openxmlformats.org/drawingml/2006/main">
              <a:ext uri="{FF2B5EF4-FFF2-40B4-BE49-F238E27FC236}">
                <a16:creationId xmlns:a16="http://schemas.microsoft.com/office/drawing/2014/main" id="{134DA07D-9708-4C52-8FE2-62566E9E9E94}"/>
              </a:ext>
            </a:extLst>
          </p:cNvPr>
          <p:cNvSpPr>
            <a:spLocks xmlns:a="http://schemas.openxmlformats.org/drawingml/2006/main" noGrp="1"/>
          </p:cNvSpPr>
          <p:nvPr/>
        </p:nvSpPr>
        <p:spPr>
          <a:xfrm xmlns:a="http://schemas.openxmlformats.org/drawingml/2006/main">
            <a:off x="7886700"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20" name="">
            <a:extLst xmlns:a="http://schemas.openxmlformats.org/drawingml/2006/main">
              <a:ext uri="{FF2B5EF4-FFF2-40B4-BE49-F238E27FC236}">
                <a16:creationId xmlns:a16="http://schemas.microsoft.com/office/drawing/2014/main" id="{62AE2C33-3D12-4FF8-80A8-983BA0BC0AFA}"/>
              </a:ext>
            </a:extLst>
          </p:cNvPr>
          <p:cNvSpPr>
            <a:spLocks xmlns:a="http://schemas.openxmlformats.org/drawingml/2006/main" noGrp="1"/>
          </p:cNvSpPr>
          <p:nvPr/>
        </p:nvSpPr>
        <p:spPr>
          <a:xfrm xmlns:a="http://schemas.openxmlformats.org/drawingml/2006/main">
            <a:off x="8334375" y="2238375"/>
            <a:ext cx="1428750" cy="1571625"/>
          </a:xfrm>
          <a:prstGeom xmlns:a="http://schemas.openxmlformats.org/drawingml/2006/main" prst="roundRect">
            <a:avLst>
              <a:gd name="adj" fmla="val 5333"/>
            </a:avLst>
          </a:prstGeom>
          <a:solidFill xmlns:a="http://schemas.openxmlformats.org/drawingml/2006/main">
            <a:srgbClr val="DFF7F2"/>
          </a:solidFill>
          <a:ln xmlns:a="http://schemas.openxmlformats.org/drawingml/2006/main" w="9525">
            <a:solidFill>
              <a:srgbClr val="155E75"/>
            </a:solidFill>
          </a:ln>
        </p:spPr>
      </p:sp>
      <p:sp>
        <p:nvSpPr>
          <p:cNvPr id="21" name="">
            <a:extLst xmlns:a="http://schemas.openxmlformats.org/drawingml/2006/main">
              <a:ext uri="{FF2B5EF4-FFF2-40B4-BE49-F238E27FC236}">
                <a16:creationId xmlns:a16="http://schemas.microsoft.com/office/drawing/2014/main" id="{8FE3603E-7296-4907-AAEE-7A6055968051}"/>
              </a:ext>
            </a:extLst>
          </p:cNvPr>
          <p:cNvSpPr>
            <a:spLocks xmlns:a="http://schemas.openxmlformats.org/drawingml/2006/main" noGrp="1"/>
          </p:cNvSpPr>
          <p:nvPr/>
        </p:nvSpPr>
        <p:spPr>
          <a:xfrm xmlns:a="http://schemas.openxmlformats.org/drawingml/2006/main">
            <a:off x="8467725" y="2352675"/>
            <a:ext cx="116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Train model</a:t>
            </a:r>
          </a:p>
        </p:txBody>
      </p:sp>
      <p:sp>
        <p:nvSpPr>
          <p:cNvPr id="22" name="">
            <a:extLst xmlns:a="http://schemas.openxmlformats.org/drawingml/2006/main">
              <a:ext uri="{FF2B5EF4-FFF2-40B4-BE49-F238E27FC236}">
                <a16:creationId xmlns:a16="http://schemas.microsoft.com/office/drawing/2014/main" id="{7FC1E6ED-4353-4070-98DE-2296A7F4CB3F}"/>
              </a:ext>
            </a:extLst>
          </p:cNvPr>
          <p:cNvSpPr>
            <a:spLocks xmlns:a="http://schemas.openxmlformats.org/drawingml/2006/main" noGrp="1"/>
          </p:cNvSpPr>
          <p:nvPr/>
        </p:nvSpPr>
        <p:spPr>
          <a:xfrm xmlns:a="http://schemas.openxmlformats.org/drawingml/2006/main">
            <a:off x="8467725" y="2676525"/>
            <a:ext cx="11620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Shared MLP with 12 outputs</a:t>
            </a:r>
          </a:p>
        </p:txBody>
      </p:sp>
      <p:sp>
        <p:nvSpPr>
          <p:cNvPr id="23" name="">
            <a:extLst xmlns:a="http://schemas.openxmlformats.org/drawingml/2006/main">
              <a:ext uri="{FF2B5EF4-FFF2-40B4-BE49-F238E27FC236}">
                <a16:creationId xmlns:a16="http://schemas.microsoft.com/office/drawing/2014/main" id="{D25BF5D2-17E2-40AE-87D5-F7B2A3FD2157}"/>
              </a:ext>
            </a:extLst>
          </p:cNvPr>
          <p:cNvSpPr>
            <a:spLocks xmlns:a="http://schemas.openxmlformats.org/drawingml/2006/main" noGrp="1"/>
          </p:cNvSpPr>
          <p:nvPr/>
        </p:nvSpPr>
        <p:spPr>
          <a:xfrm xmlns:a="http://schemas.openxmlformats.org/drawingml/2006/main">
            <a:off x="9839325"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24" name="">
            <a:extLst xmlns:a="http://schemas.openxmlformats.org/drawingml/2006/main">
              <a:ext uri="{FF2B5EF4-FFF2-40B4-BE49-F238E27FC236}">
                <a16:creationId xmlns:a16="http://schemas.microsoft.com/office/drawing/2014/main" id="{DFEBBA4D-E88F-4F0F-824F-72DBDD632F0A}"/>
              </a:ext>
            </a:extLst>
          </p:cNvPr>
          <p:cNvSpPr>
            <a:spLocks xmlns:a="http://schemas.openxmlformats.org/drawingml/2006/main" noGrp="1"/>
          </p:cNvSpPr>
          <p:nvPr/>
        </p:nvSpPr>
        <p:spPr>
          <a:xfrm xmlns:a="http://schemas.openxmlformats.org/drawingml/2006/main">
            <a:off x="10287000"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25" name="">
            <a:extLst xmlns:a="http://schemas.openxmlformats.org/drawingml/2006/main">
              <a:ext uri="{FF2B5EF4-FFF2-40B4-BE49-F238E27FC236}">
                <a16:creationId xmlns:a16="http://schemas.microsoft.com/office/drawing/2014/main" id="{65636D68-12F4-446B-991F-091E2E7A2661}"/>
              </a:ext>
            </a:extLst>
          </p:cNvPr>
          <p:cNvSpPr>
            <a:spLocks xmlns:a="http://schemas.openxmlformats.org/drawingml/2006/main" noGrp="1"/>
          </p:cNvSpPr>
          <p:nvPr/>
        </p:nvSpPr>
        <p:spPr>
          <a:xfrm xmlns:a="http://schemas.openxmlformats.org/drawingml/2006/main">
            <a:off x="10420350" y="2352675"/>
            <a:ext cx="116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Use app</a:t>
            </a:r>
          </a:p>
        </p:txBody>
      </p:sp>
      <p:sp>
        <p:nvSpPr>
          <p:cNvPr id="26" name="">
            <a:extLst xmlns:a="http://schemas.openxmlformats.org/drawingml/2006/main">
              <a:ext uri="{FF2B5EF4-FFF2-40B4-BE49-F238E27FC236}">
                <a16:creationId xmlns:a16="http://schemas.microsoft.com/office/drawing/2014/main" id="{C25377BB-1D07-445B-B41B-B6F8602D50B4}"/>
              </a:ext>
            </a:extLst>
          </p:cNvPr>
          <p:cNvSpPr>
            <a:spLocks xmlns:a="http://schemas.openxmlformats.org/drawingml/2006/main" noGrp="1"/>
          </p:cNvSpPr>
          <p:nvPr/>
        </p:nvSpPr>
        <p:spPr>
          <a:xfrm xmlns:a="http://schemas.openxmlformats.org/drawingml/2006/main">
            <a:off x="10420350" y="2676525"/>
            <a:ext cx="11620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SMILES to assay probabilities</a:t>
            </a:r>
          </a:p>
        </p:txBody>
      </p:sp>
      <p:sp>
        <p:nvSpPr>
          <p:cNvPr id="27" name="">
            <a:extLst xmlns:a="http://schemas.openxmlformats.org/drawingml/2006/main">
              <a:ext uri="{FF2B5EF4-FFF2-40B4-BE49-F238E27FC236}">
                <a16:creationId xmlns:a16="http://schemas.microsoft.com/office/drawing/2014/main" id="{E3A79620-745A-434C-8A30-C471F8EAFE49}"/>
              </a:ext>
            </a:extLst>
          </p:cNvPr>
          <p:cNvSpPr>
            <a:spLocks xmlns:a="http://schemas.openxmlformats.org/drawingml/2006/main" noGrp="1"/>
          </p:cNvSpPr>
          <p:nvPr/>
        </p:nvSpPr>
        <p:spPr>
          <a:xfrm xmlns:a="http://schemas.openxmlformats.org/drawingml/2006/main">
            <a:off x="3905250" y="44767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C2413A"/>
                </a:solidFill>
                <a:latin typeface="Helvetica Neue"/>
                <a:ea typeface="Helvetica Neue"/>
                <a:cs typeface="Helvetica Neue"/>
              </a:defRPr>
            </a:pPr>
            <a:r>
              <a:rPr sz="1725" b="1">
                <a:solidFill>
                  <a:srgbClr val="C2413A"/>
                </a:solidFill>
                <a:latin typeface="Helvetica Neue"/>
                <a:ea typeface="Helvetica Neue"/>
                <a:cs typeface="Helvetica Neue"/>
              </a:rPr>
              <a:t>Test set remains untouched until final evaluation</a:t>
            </a:r>
          </a:p>
        </p:txBody>
      </p:sp>
      <p:sp>
        <p:nvSpPr>
          <p:cNvPr id="28" name="">
            <a:extLst xmlns:a="http://schemas.openxmlformats.org/drawingml/2006/main">
              <a:ext uri="{FF2B5EF4-FFF2-40B4-BE49-F238E27FC236}">
                <a16:creationId xmlns:a16="http://schemas.microsoft.com/office/drawing/2014/main" id="{FC2898D3-5A43-4419-A2B0-9B1358A6E100}"/>
              </a:ext>
            </a:extLst>
          </p:cNvPr>
          <p:cNvSpPr>
            <a:spLocks xmlns:a="http://schemas.openxmlformats.org/drawingml/2006/main" noGrp="1"/>
          </p:cNvSpPr>
          <p:nvPr/>
        </p:nvSpPr>
        <p:spPr>
          <a:xfrm xmlns:a="http://schemas.openxmlformats.org/drawingml/2006/main">
            <a:off x="2047875" y="5238750"/>
            <a:ext cx="809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0">
                <a:solidFill>
                  <a:srgbClr val="5F7181"/>
                </a:solidFill>
                <a:latin typeface="Helvetica Neue"/>
                <a:ea typeface="Helvetica Neue"/>
                <a:cs typeface="Helvetica Neue"/>
              </a:defRPr>
            </a:pPr>
            <a:r>
              <a:rPr sz="1575" b="0">
                <a:solidFill>
                  <a:srgbClr val="5F7181"/>
                </a:solidFill>
                <a:latin typeface="Helvetica Neue"/>
                <a:ea typeface="Helvetica Neue"/>
                <a:cs typeface="Helvetica Neue"/>
              </a:rPr>
              <a:t>The same feature calculation and saved scaler are used during training and Streamlit prediction.</a:t>
            </a:r>
          </a:p>
        </p:txBody>
      </p:sp>
      <p:sp>
        <p:nvSpPr>
          <p:cNvPr id="29" name="">
            <a:extLst xmlns:a="http://schemas.openxmlformats.org/drawingml/2006/main">
              <a:ext uri="{FF2B5EF4-FFF2-40B4-BE49-F238E27FC236}">
                <a16:creationId xmlns:a16="http://schemas.microsoft.com/office/drawing/2014/main" id="{28C5DD7E-DE81-4F8A-A404-CC595D54475C}"/>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465721809"/>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A28B584-D8E3-458D-B76F-124D2A9CB14D}"/>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Molecular representation</a:t>
            </a:r>
          </a:p>
        </p:txBody>
      </p:sp>
      <p:sp>
        <p:nvSpPr>
          <p:cNvPr id="2" name="">
            <a:extLst xmlns:a="http://schemas.openxmlformats.org/drawingml/2006/main">
              <a:ext uri="{FF2B5EF4-FFF2-40B4-BE49-F238E27FC236}">
                <a16:creationId xmlns:a16="http://schemas.microsoft.com/office/drawing/2014/main" id="{8A679EF6-D489-45D8-A4F3-C90E9914C06E}"/>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03E11CCD-AF51-401E-9F35-094FFCC92313}"/>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C6C1B556-4752-4BB0-9519-CA83D0E6D8A7}"/>
              </a:ext>
            </a:extLst>
          </p:cNvPr>
          <p:cNvSpPr>
            <a:spLocks xmlns:a="http://schemas.openxmlformats.org/drawingml/2006/main" noGrp="1"/>
          </p:cNvSpPr>
          <p:nvPr/>
        </p:nvSpPr>
        <p:spPr>
          <a:xfrm xmlns:a="http://schemas.openxmlformats.org/drawingml/2006/main">
            <a:off x="714375" y="1476375"/>
            <a:ext cx="447675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D9E2E8"/>
            </a:solidFill>
          </a:ln>
        </p:spPr>
      </p:sp>
      <p:sp>
        <p:nvSpPr>
          <p:cNvPr id="5" name="">
            <a:extLst xmlns:a="http://schemas.openxmlformats.org/drawingml/2006/main">
              <a:ext uri="{FF2B5EF4-FFF2-40B4-BE49-F238E27FC236}">
                <a16:creationId xmlns:a16="http://schemas.microsoft.com/office/drawing/2014/main" id="{5341435F-6EC4-4523-8C6F-DE908101E8CE}"/>
              </a:ext>
            </a:extLst>
          </p:cNvPr>
          <p:cNvSpPr>
            <a:spLocks xmlns:a="http://schemas.openxmlformats.org/drawingml/2006/main" noGrp="1"/>
          </p:cNvSpPr>
          <p:nvPr/>
        </p:nvSpPr>
        <p:spPr>
          <a:xfrm xmlns:a="http://schemas.openxmlformats.org/drawingml/2006/main">
            <a:off x="1066800" y="18097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071F33"/>
                </a:solidFill>
                <a:latin typeface="Helvetica Neue"/>
                <a:ea typeface="Helvetica Neue"/>
                <a:cs typeface="Helvetica Neue"/>
              </a:defRPr>
            </a:pPr>
            <a:r>
              <a:rPr sz="2100" b="1">
                <a:solidFill>
                  <a:srgbClr val="071F33"/>
                </a:solidFill>
                <a:latin typeface="Helvetica Neue"/>
                <a:ea typeface="Helvetica Neue"/>
                <a:cs typeface="Helvetica Neue"/>
              </a:rPr>
              <a:t>ECFP4 fingerprint</a:t>
            </a:r>
          </a:p>
        </p:txBody>
      </p:sp>
      <p:sp>
        <p:nvSpPr>
          <p:cNvPr id="6" name="">
            <a:extLst xmlns:a="http://schemas.openxmlformats.org/drawingml/2006/main">
              <a:ext uri="{FF2B5EF4-FFF2-40B4-BE49-F238E27FC236}">
                <a16:creationId xmlns:a16="http://schemas.microsoft.com/office/drawing/2014/main" id="{9D10D9F8-26BB-4A02-873C-71480A2BB2AF}"/>
              </a:ext>
            </a:extLst>
          </p:cNvPr>
          <p:cNvSpPr>
            <a:spLocks xmlns:a="http://schemas.openxmlformats.org/drawingml/2006/main" noGrp="1"/>
          </p:cNvSpPr>
          <p:nvPr/>
        </p:nvSpPr>
        <p:spPr>
          <a:xfrm xmlns:a="http://schemas.openxmlformats.org/drawingml/2006/main">
            <a:off x="1066800" y="23431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0F9D8A"/>
                </a:solidFill>
                <a:latin typeface="Helvetica Neue"/>
                <a:ea typeface="Helvetica Neue"/>
                <a:cs typeface="Helvetica Neue"/>
              </a:defRPr>
            </a:pPr>
            <a:r>
              <a:rPr sz="1650" b="1">
                <a:solidFill>
                  <a:srgbClr val="0F9D8A"/>
                </a:solidFill>
                <a:latin typeface="Helvetica Neue"/>
                <a:ea typeface="Helvetica Neue"/>
                <a:cs typeface="Helvetica Neue"/>
              </a:rPr>
              <a:t>2,048 binary bits</a:t>
            </a:r>
          </a:p>
        </p:txBody>
      </p:sp>
      <p:sp>
        <p:nvSpPr>
          <p:cNvPr id="7" name="">
            <a:extLst xmlns:a="http://schemas.openxmlformats.org/drawingml/2006/main">
              <a:ext uri="{FF2B5EF4-FFF2-40B4-BE49-F238E27FC236}">
                <a16:creationId xmlns:a16="http://schemas.microsoft.com/office/drawing/2014/main" id="{1C2713E5-05A3-43A6-A497-B21ADD8B959F}"/>
              </a:ext>
            </a:extLst>
          </p:cNvPr>
          <p:cNvSpPr>
            <a:spLocks xmlns:a="http://schemas.openxmlformats.org/drawingml/2006/main" noGrp="1"/>
          </p:cNvSpPr>
          <p:nvPr/>
        </p:nvSpPr>
        <p:spPr>
          <a:xfrm xmlns:a="http://schemas.openxmlformats.org/drawingml/2006/main">
            <a:off x="1066800" y="2952750"/>
            <a:ext cx="3524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200"/>
              </a:spcAft>
              <a:buChar char="•"/>
              <a:defRPr sz="1500">
                <a:solidFill>
                  <a:srgbClr val="122638"/>
                </a:solidFill>
                <a:latin typeface="Helvetica Neue"/>
                <a:ea typeface="Helvetica Neue"/>
                <a:cs typeface="Helvetica Neue"/>
              </a:defRPr>
            </a:pPr>
            <a:r>
              <a:rPr sz="1500">
                <a:solidFill>
                  <a:srgbClr val="122638"/>
                </a:solidFill>
                <a:latin typeface="Helvetica Neue"/>
                <a:ea typeface="Helvetica Neue"/>
                <a:cs typeface="Helvetica Neue"/>
              </a:rPr>
              <a:t>Captures local atom environments</a:t>
            </a:r>
          </a:p>
          <a:p xmlns:a="http://schemas.openxmlformats.org/drawingml/2006/main">
            <a:pPr marL="254000" indent="-114300">
              <a:spcAft>
                <a:spcPts val="1200"/>
              </a:spcAft>
              <a:buChar char="•"/>
              <a:defRPr sz="1500">
                <a:solidFill>
                  <a:srgbClr val="122638"/>
                </a:solidFill>
                <a:latin typeface="Helvetica Neue"/>
                <a:ea typeface="Helvetica Neue"/>
                <a:cs typeface="Helvetica Neue"/>
              </a:defRPr>
            </a:pPr>
            <a:r>
              <a:rPr sz="1500">
                <a:solidFill>
                  <a:srgbClr val="122638"/>
                </a:solidFill>
                <a:latin typeface="Helvetica Neue"/>
                <a:ea typeface="Helvetica Neue"/>
                <a:cs typeface="Helvetica Neue"/>
              </a:rPr>
              <a:t>Represents structural fragments</a:t>
            </a:r>
          </a:p>
          <a:p xmlns:a="http://schemas.openxmlformats.org/drawingml/2006/main">
            <a:pPr marL="254000" indent="-114300">
              <a:spcAft>
                <a:spcPts val="1200"/>
              </a:spcAft>
              <a:buChar char="•"/>
              <a:defRPr sz="1500">
                <a:solidFill>
                  <a:srgbClr val="122638"/>
                </a:solidFill>
                <a:latin typeface="Helvetica Neue"/>
                <a:ea typeface="Helvetica Neue"/>
                <a:cs typeface="Helvetica Neue"/>
              </a:defRPr>
            </a:pPr>
            <a:r>
              <a:rPr sz="1500">
                <a:solidFill>
                  <a:srgbClr val="122638"/>
                </a:solidFill>
                <a:latin typeface="Helvetica Neue"/>
                <a:ea typeface="Helvetica Neue"/>
                <a:cs typeface="Helvetica Neue"/>
              </a:rPr>
              <a:t>Used for model input and similarity</a:t>
            </a:r>
          </a:p>
        </p:txBody>
      </p:sp>
      <p:sp>
        <p:nvSpPr>
          <p:cNvPr id="8" name="">
            <a:extLst xmlns:a="http://schemas.openxmlformats.org/drawingml/2006/main">
              <a:ext uri="{FF2B5EF4-FFF2-40B4-BE49-F238E27FC236}">
                <a16:creationId xmlns:a16="http://schemas.microsoft.com/office/drawing/2014/main" id="{1CC1AA9F-B19E-40A2-A64D-CC5216A69E9D}"/>
              </a:ext>
            </a:extLst>
          </p:cNvPr>
          <p:cNvSpPr>
            <a:spLocks xmlns:a="http://schemas.openxmlformats.org/drawingml/2006/main" noGrp="1"/>
          </p:cNvSpPr>
          <p:nvPr/>
        </p:nvSpPr>
        <p:spPr>
          <a:xfrm xmlns:a="http://schemas.openxmlformats.org/drawingml/2006/main">
            <a:off x="5553075" y="2714625"/>
            <a:ext cx="104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5250" b="1">
                <a:solidFill>
                  <a:srgbClr val="155E75"/>
                </a:solidFill>
                <a:latin typeface="Helvetica Neue"/>
                <a:ea typeface="Helvetica Neue"/>
                <a:cs typeface="Helvetica Neue"/>
              </a:defRPr>
            </a:pPr>
            <a:r>
              <a:rPr sz="5250" b="1">
                <a:solidFill>
                  <a:srgbClr val="155E75"/>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B343D2F8-F6EC-4EF4-949E-4D875E7F859F}"/>
              </a:ext>
            </a:extLst>
          </p:cNvPr>
          <p:cNvSpPr>
            <a:spLocks xmlns:a="http://schemas.openxmlformats.org/drawingml/2006/main" noGrp="1"/>
          </p:cNvSpPr>
          <p:nvPr/>
        </p:nvSpPr>
        <p:spPr>
          <a:xfrm xmlns:a="http://schemas.openxmlformats.org/drawingml/2006/main">
            <a:off x="7000875" y="1476375"/>
            <a:ext cx="447675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D9E2E8"/>
            </a:solidFill>
          </a:ln>
        </p:spPr>
      </p:sp>
      <p:sp>
        <p:nvSpPr>
          <p:cNvPr id="10" name="">
            <a:extLst xmlns:a="http://schemas.openxmlformats.org/drawingml/2006/main">
              <a:ext uri="{FF2B5EF4-FFF2-40B4-BE49-F238E27FC236}">
                <a16:creationId xmlns:a16="http://schemas.microsoft.com/office/drawing/2014/main" id="{99030A71-3D84-467A-B358-262730E11C9D}"/>
              </a:ext>
            </a:extLst>
          </p:cNvPr>
          <p:cNvSpPr>
            <a:spLocks xmlns:a="http://schemas.openxmlformats.org/drawingml/2006/main" noGrp="1"/>
          </p:cNvSpPr>
          <p:nvPr/>
        </p:nvSpPr>
        <p:spPr>
          <a:xfrm xmlns:a="http://schemas.openxmlformats.org/drawingml/2006/main">
            <a:off x="7353300" y="18097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071F33"/>
                </a:solidFill>
                <a:latin typeface="Helvetica Neue"/>
                <a:ea typeface="Helvetica Neue"/>
                <a:cs typeface="Helvetica Neue"/>
              </a:defRPr>
            </a:pPr>
            <a:r>
              <a:rPr sz="2100" b="1">
                <a:solidFill>
                  <a:srgbClr val="071F33"/>
                </a:solidFill>
                <a:latin typeface="Helvetica Neue"/>
                <a:ea typeface="Helvetica Neue"/>
                <a:cs typeface="Helvetica Neue"/>
              </a:rPr>
              <a:t>Molecular descriptors</a:t>
            </a:r>
          </a:p>
        </p:txBody>
      </p:sp>
      <p:sp>
        <p:nvSpPr>
          <p:cNvPr id="11" name="">
            <a:extLst xmlns:a="http://schemas.openxmlformats.org/drawingml/2006/main">
              <a:ext uri="{FF2B5EF4-FFF2-40B4-BE49-F238E27FC236}">
                <a16:creationId xmlns:a16="http://schemas.microsoft.com/office/drawing/2014/main" id="{EE3C2077-05AD-43A3-BF06-98E4CA56982C}"/>
              </a:ext>
            </a:extLst>
          </p:cNvPr>
          <p:cNvSpPr>
            <a:spLocks xmlns:a="http://schemas.openxmlformats.org/drawingml/2006/main" noGrp="1"/>
          </p:cNvSpPr>
          <p:nvPr/>
        </p:nvSpPr>
        <p:spPr>
          <a:xfrm xmlns:a="http://schemas.openxmlformats.org/drawingml/2006/main">
            <a:off x="7353300" y="23431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0F9D8A"/>
                </a:solidFill>
                <a:latin typeface="Helvetica Neue"/>
                <a:ea typeface="Helvetica Neue"/>
                <a:cs typeface="Helvetica Neue"/>
              </a:defRPr>
            </a:pPr>
            <a:r>
              <a:rPr sz="1650" b="1">
                <a:solidFill>
                  <a:srgbClr val="0F9D8A"/>
                </a:solidFill>
                <a:latin typeface="Helvetica Neue"/>
                <a:ea typeface="Helvetica Neue"/>
                <a:cs typeface="Helvetica Neue"/>
              </a:rPr>
              <a:t>8 scaled values</a:t>
            </a:r>
          </a:p>
        </p:txBody>
      </p:sp>
      <p:sp>
        <p:nvSpPr>
          <p:cNvPr id="12" name="">
            <a:extLst xmlns:a="http://schemas.openxmlformats.org/drawingml/2006/main">
              <a:ext uri="{FF2B5EF4-FFF2-40B4-BE49-F238E27FC236}">
                <a16:creationId xmlns:a16="http://schemas.microsoft.com/office/drawing/2014/main" id="{FC079F3A-2531-4455-802D-4DDC27F9AC22}"/>
              </a:ext>
            </a:extLst>
          </p:cNvPr>
          <p:cNvSpPr>
            <a:spLocks xmlns:a="http://schemas.openxmlformats.org/drawingml/2006/main" noGrp="1"/>
          </p:cNvSpPr>
          <p:nvPr/>
        </p:nvSpPr>
        <p:spPr>
          <a:xfrm xmlns:a="http://schemas.openxmlformats.org/drawingml/2006/main">
            <a:off x="7353300" y="295275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Molecular weight</a:t>
            </a:r>
          </a:p>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logP and TPSA</a:t>
            </a:r>
          </a:p>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H-bond donors and acceptors</a:t>
            </a:r>
          </a:p>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Rotatable bonds</a:t>
            </a:r>
          </a:p>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Ring count and heavy atoms</a:t>
            </a:r>
          </a:p>
        </p:txBody>
      </p:sp>
      <p:sp>
        <p:nvSpPr>
          <p:cNvPr id="13" name="">
            <a:extLst xmlns:a="http://schemas.openxmlformats.org/drawingml/2006/main">
              <a:ext uri="{FF2B5EF4-FFF2-40B4-BE49-F238E27FC236}">
                <a16:creationId xmlns:a16="http://schemas.microsoft.com/office/drawing/2014/main" id="{1018D9A4-C3A3-43B1-B443-1F153EE600C3}"/>
              </a:ext>
            </a:extLst>
          </p:cNvPr>
          <p:cNvSpPr>
            <a:spLocks xmlns:a="http://schemas.openxmlformats.org/drawingml/2006/main" noGrp="1"/>
          </p:cNvSpPr>
          <p:nvPr/>
        </p:nvSpPr>
        <p:spPr>
          <a:xfrm xmlns:a="http://schemas.openxmlformats.org/drawingml/2006/main">
            <a:off x="2857500" y="56197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a:solidFill>
                  <a:srgbClr val="155E75"/>
                </a:solidFill>
                <a:latin typeface="Helvetica Neue"/>
                <a:ea typeface="Helvetica Neue"/>
                <a:cs typeface="Helvetica Neue"/>
              </a:defRPr>
            </a:pPr>
            <a:r>
              <a:rPr sz="1875" b="1">
                <a:solidFill>
                  <a:srgbClr val="155E75"/>
                </a:solidFill>
                <a:latin typeface="Helvetica Neue"/>
                <a:ea typeface="Helvetica Neue"/>
                <a:cs typeface="Helvetica Neue"/>
              </a:rPr>
              <a:t>Final input size: 2,056 features per molecule</a:t>
            </a:r>
          </a:p>
        </p:txBody>
      </p:sp>
      <p:sp>
        <p:nvSpPr>
          <p:cNvPr id="14" name="">
            <a:extLst xmlns:a="http://schemas.openxmlformats.org/drawingml/2006/main">
              <a:ext uri="{FF2B5EF4-FFF2-40B4-BE49-F238E27FC236}">
                <a16:creationId xmlns:a16="http://schemas.microsoft.com/office/drawing/2014/main" id="{67F7A986-81E2-4AB6-BFFB-FCD236AADA82}"/>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6592555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33D9C58-2B37-42EC-9AB5-68306D75445E}"/>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Multi-task neural network</a:t>
            </a:r>
          </a:p>
        </p:txBody>
      </p:sp>
      <p:sp>
        <p:nvSpPr>
          <p:cNvPr id="2" name="">
            <a:extLst xmlns:a="http://schemas.openxmlformats.org/drawingml/2006/main">
              <a:ext uri="{FF2B5EF4-FFF2-40B4-BE49-F238E27FC236}">
                <a16:creationId xmlns:a16="http://schemas.microsoft.com/office/drawing/2014/main" id="{690AA22D-09E1-4151-8010-B61CD940D72E}"/>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CED40CA0-65A4-4CD9-A096-079B399948C1}"/>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89A6582F-379A-462E-B489-09C0274710EF}"/>
              </a:ext>
            </a:extLst>
          </p:cNvPr>
          <p:cNvSpPr>
            <a:spLocks xmlns:a="http://schemas.openxmlformats.org/drawingml/2006/main" noGrp="1"/>
          </p:cNvSpPr>
          <p:nvPr/>
        </p:nvSpPr>
        <p:spPr>
          <a:xfrm xmlns:a="http://schemas.openxmlformats.org/drawingml/2006/main">
            <a:off x="857250" y="2047875"/>
            <a:ext cx="1666875" cy="1952625"/>
          </a:xfrm>
          <a:prstGeom xmlns:a="http://schemas.openxmlformats.org/drawingml/2006/main" prst="roundRect">
            <a:avLst>
              <a:gd name="adj" fmla="val 4571"/>
            </a:avLst>
          </a:prstGeom>
          <a:solidFill xmlns:a="http://schemas.openxmlformats.org/drawingml/2006/main">
            <a:srgbClr val="E7EFF6"/>
          </a:solidFill>
          <a:ln xmlns:a="http://schemas.openxmlformats.org/drawingml/2006/main" w="9525">
            <a:solidFill>
              <a:srgbClr val="E7EFF6"/>
            </a:solidFill>
          </a:ln>
        </p:spPr>
      </p:sp>
      <p:sp>
        <p:nvSpPr>
          <p:cNvPr id="5" name="">
            <a:extLst xmlns:a="http://schemas.openxmlformats.org/drawingml/2006/main">
              <a:ext uri="{FF2B5EF4-FFF2-40B4-BE49-F238E27FC236}">
                <a16:creationId xmlns:a16="http://schemas.microsoft.com/office/drawing/2014/main" id="{FDB8A5F5-5F48-4400-BF78-68049C4D436B}"/>
              </a:ext>
            </a:extLst>
          </p:cNvPr>
          <p:cNvSpPr>
            <a:spLocks xmlns:a="http://schemas.openxmlformats.org/drawingml/2006/main" noGrp="1"/>
          </p:cNvSpPr>
          <p:nvPr/>
        </p:nvSpPr>
        <p:spPr>
          <a:xfrm xmlns:a="http://schemas.openxmlformats.org/drawingml/2006/main">
            <a:off x="971550" y="2219325"/>
            <a:ext cx="143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071F33"/>
                </a:solidFill>
                <a:latin typeface="Helvetica Neue"/>
                <a:ea typeface="Helvetica Neue"/>
                <a:cs typeface="Helvetica Neue"/>
              </a:defRPr>
            </a:pPr>
            <a:r>
              <a:rPr sz="1650" b="1">
                <a:solidFill>
                  <a:srgbClr val="071F33"/>
                </a:solidFill>
                <a:latin typeface="Helvetica Neue"/>
                <a:ea typeface="Helvetica Neue"/>
                <a:cs typeface="Helvetica Neue"/>
              </a:rPr>
              <a:t>Input</a:t>
            </a:r>
          </a:p>
        </p:txBody>
      </p:sp>
      <p:sp>
        <p:nvSpPr>
          <p:cNvPr id="6" name="">
            <a:extLst xmlns:a="http://schemas.openxmlformats.org/drawingml/2006/main">
              <a:ext uri="{FF2B5EF4-FFF2-40B4-BE49-F238E27FC236}">
                <a16:creationId xmlns:a16="http://schemas.microsoft.com/office/drawing/2014/main" id="{BC8D3DFF-8356-497D-A3E5-562DB542995F}"/>
              </a:ext>
            </a:extLst>
          </p:cNvPr>
          <p:cNvSpPr>
            <a:spLocks xmlns:a="http://schemas.openxmlformats.org/drawingml/2006/main" noGrp="1"/>
          </p:cNvSpPr>
          <p:nvPr/>
        </p:nvSpPr>
        <p:spPr>
          <a:xfrm xmlns:a="http://schemas.openxmlformats.org/drawingml/2006/main">
            <a:off x="971550" y="2638425"/>
            <a:ext cx="14382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2,056 features</a:t>
            </a:r>
          </a:p>
        </p:txBody>
      </p:sp>
      <p:sp>
        <p:nvSpPr>
          <p:cNvPr id="7" name="">
            <a:extLst xmlns:a="http://schemas.openxmlformats.org/drawingml/2006/main">
              <a:ext uri="{FF2B5EF4-FFF2-40B4-BE49-F238E27FC236}">
                <a16:creationId xmlns:a16="http://schemas.microsoft.com/office/drawing/2014/main" id="{E579B853-3F82-40DA-A0BE-91BAC51A276D}"/>
              </a:ext>
            </a:extLst>
          </p:cNvPr>
          <p:cNvSpPr>
            <a:spLocks xmlns:a="http://schemas.openxmlformats.org/drawingml/2006/main" noGrp="1"/>
          </p:cNvSpPr>
          <p:nvPr/>
        </p:nvSpPr>
        <p:spPr>
          <a:xfrm xmlns:a="http://schemas.openxmlformats.org/drawingml/2006/main">
            <a:off x="2695575" y="2857500"/>
            <a:ext cx="34290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8" name="">
            <a:extLst xmlns:a="http://schemas.openxmlformats.org/drawingml/2006/main">
              <a:ext uri="{FF2B5EF4-FFF2-40B4-BE49-F238E27FC236}">
                <a16:creationId xmlns:a16="http://schemas.microsoft.com/office/drawing/2014/main" id="{71B95464-BB87-468D-A0E5-D011FE7BEEAD}"/>
              </a:ext>
            </a:extLst>
          </p:cNvPr>
          <p:cNvSpPr>
            <a:spLocks xmlns:a="http://schemas.openxmlformats.org/drawingml/2006/main" noGrp="1"/>
          </p:cNvSpPr>
          <p:nvPr/>
        </p:nvSpPr>
        <p:spPr>
          <a:xfrm xmlns:a="http://schemas.openxmlformats.org/drawingml/2006/main">
            <a:off x="3143250" y="2333625"/>
            <a:ext cx="1666875" cy="1381125"/>
          </a:xfrm>
          <a:prstGeom xmlns:a="http://schemas.openxmlformats.org/drawingml/2006/main" prst="roundRect">
            <a:avLst>
              <a:gd name="adj" fmla="val 5517"/>
            </a:avLst>
          </a:prstGeom>
          <a:solidFill xmlns:a="http://schemas.openxmlformats.org/drawingml/2006/main">
            <a:srgbClr val="DFF7F2"/>
          </a:solidFill>
          <a:ln xmlns:a="http://schemas.openxmlformats.org/drawingml/2006/main" w="9525">
            <a:solidFill>
              <a:srgbClr val="DFF7F2"/>
            </a:solidFill>
          </a:ln>
        </p:spPr>
      </p:sp>
      <p:sp>
        <p:nvSpPr>
          <p:cNvPr id="9" name="">
            <a:extLst xmlns:a="http://schemas.openxmlformats.org/drawingml/2006/main">
              <a:ext uri="{FF2B5EF4-FFF2-40B4-BE49-F238E27FC236}">
                <a16:creationId xmlns:a16="http://schemas.microsoft.com/office/drawing/2014/main" id="{5BC83EE2-FDB7-459B-90EF-C9D47F2A3B0C}"/>
              </a:ext>
            </a:extLst>
          </p:cNvPr>
          <p:cNvSpPr>
            <a:spLocks xmlns:a="http://schemas.openxmlformats.org/drawingml/2006/main" noGrp="1"/>
          </p:cNvSpPr>
          <p:nvPr/>
        </p:nvSpPr>
        <p:spPr>
          <a:xfrm xmlns:a="http://schemas.openxmlformats.org/drawingml/2006/main">
            <a:off x="3257550" y="2505075"/>
            <a:ext cx="143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071F33"/>
                </a:solidFill>
                <a:latin typeface="Helvetica Neue"/>
                <a:ea typeface="Helvetica Neue"/>
                <a:cs typeface="Helvetica Neue"/>
              </a:defRPr>
            </a:pPr>
            <a:r>
              <a:rPr sz="1650" b="1">
                <a:solidFill>
                  <a:srgbClr val="071F33"/>
                </a:solidFill>
                <a:latin typeface="Helvetica Neue"/>
                <a:ea typeface="Helvetica Neue"/>
                <a:cs typeface="Helvetica Neue"/>
              </a:rPr>
              <a:t>Hidden layer</a:t>
            </a:r>
          </a:p>
        </p:txBody>
      </p:sp>
      <p:sp>
        <p:nvSpPr>
          <p:cNvPr id="10" name="">
            <a:extLst xmlns:a="http://schemas.openxmlformats.org/drawingml/2006/main">
              <a:ext uri="{FF2B5EF4-FFF2-40B4-BE49-F238E27FC236}">
                <a16:creationId xmlns:a16="http://schemas.microsoft.com/office/drawing/2014/main" id="{8A2F8273-038D-4133-9C7D-6A24152CE176}"/>
              </a:ext>
            </a:extLst>
          </p:cNvPr>
          <p:cNvSpPr>
            <a:spLocks xmlns:a="http://schemas.openxmlformats.org/drawingml/2006/main" noGrp="1"/>
          </p:cNvSpPr>
          <p:nvPr/>
        </p:nvSpPr>
        <p:spPr>
          <a:xfrm xmlns:a="http://schemas.openxmlformats.org/drawingml/2006/main">
            <a:off x="3257550" y="2924175"/>
            <a:ext cx="14382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256 units</a:t>
            </a:r>
          </a:p>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ReLU + BatchNorm</a:t>
            </a:r>
          </a:p>
        </p:txBody>
      </p:sp>
      <p:sp>
        <p:nvSpPr>
          <p:cNvPr id="11" name="">
            <a:extLst xmlns:a="http://schemas.openxmlformats.org/drawingml/2006/main">
              <a:ext uri="{FF2B5EF4-FFF2-40B4-BE49-F238E27FC236}">
                <a16:creationId xmlns:a16="http://schemas.microsoft.com/office/drawing/2014/main" id="{359650F4-C7BA-4C0A-998E-DEB531EDCA2F}"/>
              </a:ext>
            </a:extLst>
          </p:cNvPr>
          <p:cNvSpPr>
            <a:spLocks xmlns:a="http://schemas.openxmlformats.org/drawingml/2006/main" noGrp="1"/>
          </p:cNvSpPr>
          <p:nvPr/>
        </p:nvSpPr>
        <p:spPr>
          <a:xfrm xmlns:a="http://schemas.openxmlformats.org/drawingml/2006/main">
            <a:off x="4981575" y="2857500"/>
            <a:ext cx="34290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2" name="">
            <a:extLst xmlns:a="http://schemas.openxmlformats.org/drawingml/2006/main">
              <a:ext uri="{FF2B5EF4-FFF2-40B4-BE49-F238E27FC236}">
                <a16:creationId xmlns:a16="http://schemas.microsoft.com/office/drawing/2014/main" id="{CA6B9852-075F-450C-8552-A24A65ACFC11}"/>
              </a:ext>
            </a:extLst>
          </p:cNvPr>
          <p:cNvSpPr>
            <a:spLocks xmlns:a="http://schemas.openxmlformats.org/drawingml/2006/main" noGrp="1"/>
          </p:cNvSpPr>
          <p:nvPr/>
        </p:nvSpPr>
        <p:spPr>
          <a:xfrm xmlns:a="http://schemas.openxmlformats.org/drawingml/2006/main">
            <a:off x="5429250" y="2476500"/>
            <a:ext cx="1666875" cy="1095375"/>
          </a:xfrm>
          <a:prstGeom xmlns:a="http://schemas.openxmlformats.org/drawingml/2006/main" prst="roundRect">
            <a:avLst>
              <a:gd name="adj" fmla="val 6957"/>
            </a:avLst>
          </a:prstGeom>
          <a:solidFill xmlns:a="http://schemas.openxmlformats.org/drawingml/2006/main">
            <a:srgbClr val="DFF7F2"/>
          </a:solidFill>
          <a:ln xmlns:a="http://schemas.openxmlformats.org/drawingml/2006/main" w="9525">
            <a:solidFill>
              <a:srgbClr val="DFF7F2"/>
            </a:solidFill>
          </a:ln>
        </p:spPr>
      </p:sp>
      <p:sp>
        <p:nvSpPr>
          <p:cNvPr id="13" name="">
            <a:extLst xmlns:a="http://schemas.openxmlformats.org/drawingml/2006/main">
              <a:ext uri="{FF2B5EF4-FFF2-40B4-BE49-F238E27FC236}">
                <a16:creationId xmlns:a16="http://schemas.microsoft.com/office/drawing/2014/main" id="{70DD4B72-0DAE-4BA4-948F-8ADA1BBCFB24}"/>
              </a:ext>
            </a:extLst>
          </p:cNvPr>
          <p:cNvSpPr>
            <a:spLocks xmlns:a="http://schemas.openxmlformats.org/drawingml/2006/main" noGrp="1"/>
          </p:cNvSpPr>
          <p:nvPr/>
        </p:nvSpPr>
        <p:spPr>
          <a:xfrm xmlns:a="http://schemas.openxmlformats.org/drawingml/2006/main">
            <a:off x="5543550" y="2647950"/>
            <a:ext cx="143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071F33"/>
                </a:solidFill>
                <a:latin typeface="Helvetica Neue"/>
                <a:ea typeface="Helvetica Neue"/>
                <a:cs typeface="Helvetica Neue"/>
              </a:defRPr>
            </a:pPr>
            <a:r>
              <a:rPr sz="1650" b="1">
                <a:solidFill>
                  <a:srgbClr val="071F33"/>
                </a:solidFill>
                <a:latin typeface="Helvetica Neue"/>
                <a:ea typeface="Helvetica Neue"/>
                <a:cs typeface="Helvetica Neue"/>
              </a:rPr>
              <a:t>Hidden layer</a:t>
            </a:r>
          </a:p>
        </p:txBody>
      </p:sp>
      <p:sp>
        <p:nvSpPr>
          <p:cNvPr id="14" name="">
            <a:extLst xmlns:a="http://schemas.openxmlformats.org/drawingml/2006/main">
              <a:ext uri="{FF2B5EF4-FFF2-40B4-BE49-F238E27FC236}">
                <a16:creationId xmlns:a16="http://schemas.microsoft.com/office/drawing/2014/main" id="{AC22D71F-064D-4528-9BF9-A4CEC5E6B7AD}"/>
              </a:ext>
            </a:extLst>
          </p:cNvPr>
          <p:cNvSpPr>
            <a:spLocks xmlns:a="http://schemas.openxmlformats.org/drawingml/2006/main" noGrp="1"/>
          </p:cNvSpPr>
          <p:nvPr/>
        </p:nvSpPr>
        <p:spPr>
          <a:xfrm xmlns:a="http://schemas.openxmlformats.org/drawingml/2006/main">
            <a:off x="5543550" y="3067050"/>
            <a:ext cx="14382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128 units</a:t>
            </a:r>
          </a:p>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ReLU + Dropout</a:t>
            </a:r>
          </a:p>
        </p:txBody>
      </p:sp>
      <p:sp>
        <p:nvSpPr>
          <p:cNvPr id="15" name="">
            <a:extLst xmlns:a="http://schemas.openxmlformats.org/drawingml/2006/main">
              <a:ext uri="{FF2B5EF4-FFF2-40B4-BE49-F238E27FC236}">
                <a16:creationId xmlns:a16="http://schemas.microsoft.com/office/drawing/2014/main" id="{13B9EB18-6497-48B2-8F84-DD02E7413ADC}"/>
              </a:ext>
            </a:extLst>
          </p:cNvPr>
          <p:cNvSpPr>
            <a:spLocks xmlns:a="http://schemas.openxmlformats.org/drawingml/2006/main" noGrp="1"/>
          </p:cNvSpPr>
          <p:nvPr/>
        </p:nvSpPr>
        <p:spPr>
          <a:xfrm xmlns:a="http://schemas.openxmlformats.org/drawingml/2006/main">
            <a:off x="7267575" y="2857500"/>
            <a:ext cx="34290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6" name="">
            <a:extLst xmlns:a="http://schemas.openxmlformats.org/drawingml/2006/main">
              <a:ext uri="{FF2B5EF4-FFF2-40B4-BE49-F238E27FC236}">
                <a16:creationId xmlns:a16="http://schemas.microsoft.com/office/drawing/2014/main" id="{5DE6ABB5-4270-4BAB-81B0-EBBE88C56AB5}"/>
              </a:ext>
            </a:extLst>
          </p:cNvPr>
          <p:cNvSpPr>
            <a:spLocks xmlns:a="http://schemas.openxmlformats.org/drawingml/2006/main" noGrp="1"/>
          </p:cNvSpPr>
          <p:nvPr/>
        </p:nvSpPr>
        <p:spPr>
          <a:xfrm xmlns:a="http://schemas.openxmlformats.org/drawingml/2006/main">
            <a:off x="7715250" y="2190750"/>
            <a:ext cx="1666875" cy="1666875"/>
          </a:xfrm>
          <a:prstGeom xmlns:a="http://schemas.openxmlformats.org/drawingml/2006/main" prst="roundRect">
            <a:avLst>
              <a:gd name="adj" fmla="val 4571"/>
            </a:avLst>
          </a:prstGeom>
          <a:solidFill xmlns:a="http://schemas.openxmlformats.org/drawingml/2006/main">
            <a:srgbClr val="F8EED8"/>
          </a:solidFill>
          <a:ln xmlns:a="http://schemas.openxmlformats.org/drawingml/2006/main" w="9525">
            <a:solidFill>
              <a:srgbClr val="F8EED8"/>
            </a:solidFill>
          </a:ln>
        </p:spPr>
      </p:sp>
      <p:sp>
        <p:nvSpPr>
          <p:cNvPr id="17" name="">
            <a:extLst xmlns:a="http://schemas.openxmlformats.org/drawingml/2006/main">
              <a:ext uri="{FF2B5EF4-FFF2-40B4-BE49-F238E27FC236}">
                <a16:creationId xmlns:a16="http://schemas.microsoft.com/office/drawing/2014/main" id="{34D79C06-3EFD-4C72-8B37-05248E858B34}"/>
              </a:ext>
            </a:extLst>
          </p:cNvPr>
          <p:cNvSpPr>
            <a:spLocks xmlns:a="http://schemas.openxmlformats.org/drawingml/2006/main" noGrp="1"/>
          </p:cNvSpPr>
          <p:nvPr/>
        </p:nvSpPr>
        <p:spPr>
          <a:xfrm xmlns:a="http://schemas.openxmlformats.org/drawingml/2006/main">
            <a:off x="7829550" y="2362200"/>
            <a:ext cx="14382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071F33"/>
                </a:solidFill>
                <a:latin typeface="Helvetica Neue"/>
                <a:ea typeface="Helvetica Neue"/>
                <a:cs typeface="Helvetica Neue"/>
              </a:defRPr>
            </a:pPr>
            <a:r>
              <a:rPr sz="1650" b="1">
                <a:solidFill>
                  <a:srgbClr val="071F33"/>
                </a:solidFill>
                <a:latin typeface="Helvetica Neue"/>
                <a:ea typeface="Helvetica Neue"/>
                <a:cs typeface="Helvetica Neue"/>
              </a:rPr>
              <a:t>Output</a:t>
            </a:r>
          </a:p>
        </p:txBody>
      </p:sp>
      <p:sp>
        <p:nvSpPr>
          <p:cNvPr id="18" name="">
            <a:extLst xmlns:a="http://schemas.openxmlformats.org/drawingml/2006/main">
              <a:ext uri="{FF2B5EF4-FFF2-40B4-BE49-F238E27FC236}">
                <a16:creationId xmlns:a16="http://schemas.microsoft.com/office/drawing/2014/main" id="{21D44903-AACF-4712-82AF-A8F7574722A2}"/>
              </a:ext>
            </a:extLst>
          </p:cNvPr>
          <p:cNvSpPr>
            <a:spLocks xmlns:a="http://schemas.openxmlformats.org/drawingml/2006/main" noGrp="1"/>
          </p:cNvSpPr>
          <p:nvPr/>
        </p:nvSpPr>
        <p:spPr>
          <a:xfrm xmlns:a="http://schemas.openxmlformats.org/drawingml/2006/main">
            <a:off x="7829550" y="2781300"/>
            <a:ext cx="14382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12 logits</a:t>
            </a:r>
          </a:p>
        </p:txBody>
      </p:sp>
      <p:sp>
        <p:nvSpPr>
          <p:cNvPr id="19" name="">
            <a:extLst xmlns:a="http://schemas.openxmlformats.org/drawingml/2006/main">
              <a:ext uri="{FF2B5EF4-FFF2-40B4-BE49-F238E27FC236}">
                <a16:creationId xmlns:a16="http://schemas.microsoft.com/office/drawing/2014/main" id="{34FDFBBF-D5AC-4FC2-BA61-14BE0C8A7617}"/>
              </a:ext>
            </a:extLst>
          </p:cNvPr>
          <p:cNvSpPr>
            <a:spLocks xmlns:a="http://schemas.openxmlformats.org/drawingml/2006/main" noGrp="1"/>
          </p:cNvSpPr>
          <p:nvPr/>
        </p:nvSpPr>
        <p:spPr>
          <a:xfrm xmlns:a="http://schemas.openxmlformats.org/drawingml/2006/main">
            <a:off x="9553575" y="2857500"/>
            <a:ext cx="34290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20" name="">
            <a:extLst xmlns:a="http://schemas.openxmlformats.org/drawingml/2006/main">
              <a:ext uri="{FF2B5EF4-FFF2-40B4-BE49-F238E27FC236}">
                <a16:creationId xmlns:a16="http://schemas.microsoft.com/office/drawing/2014/main" id="{7480359F-B44F-4879-82B7-D4A0E2F92655}"/>
              </a:ext>
            </a:extLst>
          </p:cNvPr>
          <p:cNvSpPr>
            <a:spLocks xmlns:a="http://schemas.openxmlformats.org/drawingml/2006/main" noGrp="1"/>
          </p:cNvSpPr>
          <p:nvPr/>
        </p:nvSpPr>
        <p:spPr>
          <a:xfrm xmlns:a="http://schemas.openxmlformats.org/drawingml/2006/main">
            <a:off x="10001250" y="1857375"/>
            <a:ext cx="1428750" cy="2333625"/>
          </a:xfrm>
          <a:prstGeom xmlns:a="http://schemas.openxmlformats.org/drawingml/2006/main" prst="roundRect">
            <a:avLst>
              <a:gd name="adj" fmla="val 5333"/>
            </a:avLst>
          </a:prstGeom>
          <a:solidFill xmlns:a="http://schemas.openxmlformats.org/drawingml/2006/main">
            <a:srgbClr val="E9E8F8"/>
          </a:solidFill>
          <a:ln xmlns:a="http://schemas.openxmlformats.org/drawingml/2006/main" w="9525">
            <a:solidFill>
              <a:srgbClr val="E9E8F8"/>
            </a:solidFill>
          </a:ln>
        </p:spPr>
      </p:sp>
      <p:sp>
        <p:nvSpPr>
          <p:cNvPr id="21" name="">
            <a:extLst xmlns:a="http://schemas.openxmlformats.org/drawingml/2006/main">
              <a:ext uri="{FF2B5EF4-FFF2-40B4-BE49-F238E27FC236}">
                <a16:creationId xmlns:a16="http://schemas.microsoft.com/office/drawing/2014/main" id="{9426180A-20F8-4120-BC52-DAFE8A45EDC7}"/>
              </a:ext>
            </a:extLst>
          </p:cNvPr>
          <p:cNvSpPr>
            <a:spLocks xmlns:a="http://schemas.openxmlformats.org/drawingml/2006/main" noGrp="1"/>
          </p:cNvSpPr>
          <p:nvPr/>
        </p:nvSpPr>
        <p:spPr>
          <a:xfrm xmlns:a="http://schemas.openxmlformats.org/drawingml/2006/main">
            <a:off x="10115550" y="2028825"/>
            <a:ext cx="1200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a:solidFill>
                  <a:srgbClr val="071F33"/>
                </a:solidFill>
                <a:latin typeface="Helvetica Neue"/>
                <a:ea typeface="Helvetica Neue"/>
                <a:cs typeface="Helvetica Neue"/>
              </a:defRPr>
            </a:pPr>
            <a:r>
              <a:rPr sz="1650" b="1">
                <a:solidFill>
                  <a:srgbClr val="071F33"/>
                </a:solidFill>
                <a:latin typeface="Helvetica Neue"/>
                <a:ea typeface="Helvetica Neue"/>
                <a:cs typeface="Helvetica Neue"/>
              </a:rPr>
              <a:t>Assays</a:t>
            </a:r>
          </a:p>
        </p:txBody>
      </p:sp>
      <p:sp>
        <p:nvSpPr>
          <p:cNvPr id="22" name="">
            <a:extLst xmlns:a="http://schemas.openxmlformats.org/drawingml/2006/main">
              <a:ext uri="{FF2B5EF4-FFF2-40B4-BE49-F238E27FC236}">
                <a16:creationId xmlns:a16="http://schemas.microsoft.com/office/drawing/2014/main" id="{9D838326-F582-4D4B-AEB7-232E794D0CE1}"/>
              </a:ext>
            </a:extLst>
          </p:cNvPr>
          <p:cNvSpPr>
            <a:spLocks xmlns:a="http://schemas.openxmlformats.org/drawingml/2006/main" noGrp="1"/>
          </p:cNvSpPr>
          <p:nvPr/>
        </p:nvSpPr>
        <p:spPr>
          <a:xfrm xmlns:a="http://schemas.openxmlformats.org/drawingml/2006/main">
            <a:off x="10115550" y="2447925"/>
            <a:ext cx="12001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NR-AR</a:t>
            </a:r>
          </a:p>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NR-AhR</a:t>
            </a:r>
          </a:p>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a:t>
            </a:r>
          </a:p>
          <a:p xmlns:a="http://schemas.openxmlformats.org/drawingml/2006/main">
            <a:pPr algn="ctr">
              <a:defRPr sz="1275" b="0">
                <a:solidFill>
                  <a:srgbClr val="122638"/>
                </a:solidFill>
                <a:latin typeface="Helvetica Neue"/>
                <a:ea typeface="Helvetica Neue"/>
                <a:cs typeface="Helvetica Neue"/>
              </a:defRPr>
            </a:pPr>
            <a:r>
              <a:rPr sz="1275" b="0">
                <a:solidFill>
                  <a:srgbClr val="122638"/>
                </a:solidFill>
                <a:latin typeface="Helvetica Neue"/>
                <a:ea typeface="Helvetica Neue"/>
                <a:cs typeface="Helvetica Neue"/>
              </a:rPr>
              <a:t>SR-p53</a:t>
            </a:r>
          </a:p>
        </p:txBody>
      </p:sp>
      <p:sp>
        <p:nvSpPr>
          <p:cNvPr id="23" name="">
            <a:extLst xmlns:a="http://schemas.openxmlformats.org/drawingml/2006/main">
              <a:ext uri="{FF2B5EF4-FFF2-40B4-BE49-F238E27FC236}">
                <a16:creationId xmlns:a16="http://schemas.microsoft.com/office/drawing/2014/main" id="{3981FAD4-0393-4DA4-9D85-78A2DFB991DA}"/>
              </a:ext>
            </a:extLst>
          </p:cNvPr>
          <p:cNvSpPr>
            <a:spLocks xmlns:a="http://schemas.openxmlformats.org/drawingml/2006/main" noGrp="1"/>
          </p:cNvSpPr>
          <p:nvPr/>
        </p:nvSpPr>
        <p:spPr>
          <a:xfrm xmlns:a="http://schemas.openxmlformats.org/drawingml/2006/main">
            <a:off x="2333625" y="49530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a:solidFill>
                  <a:srgbClr val="155E75"/>
                </a:solidFill>
                <a:latin typeface="Helvetica Neue"/>
                <a:ea typeface="Helvetica Neue"/>
                <a:cs typeface="Helvetica Neue"/>
              </a:defRPr>
            </a:pPr>
            <a:r>
              <a:rPr sz="1875" b="1">
                <a:solidFill>
                  <a:srgbClr val="155E75"/>
                </a:solidFill>
                <a:latin typeface="Helvetica Neue"/>
                <a:ea typeface="Helvetica Neue"/>
                <a:cs typeface="Helvetica Neue"/>
              </a:rPr>
              <a:t>Shared hidden layers learn patterns that may be useful across related assays.</a:t>
            </a:r>
          </a:p>
        </p:txBody>
      </p:sp>
      <p:sp>
        <p:nvSpPr>
          <p:cNvPr id="24" name="">
            <a:extLst xmlns:a="http://schemas.openxmlformats.org/drawingml/2006/main">
              <a:ext uri="{FF2B5EF4-FFF2-40B4-BE49-F238E27FC236}">
                <a16:creationId xmlns:a16="http://schemas.microsoft.com/office/drawing/2014/main" id="{856CACE0-EDE5-435E-B3BA-8CC585DAD990}"/>
              </a:ext>
            </a:extLst>
          </p:cNvPr>
          <p:cNvSpPr>
            <a:spLocks xmlns:a="http://schemas.openxmlformats.org/drawingml/2006/main" noGrp="1"/>
          </p:cNvSpPr>
          <p:nvPr/>
        </p:nvSpPr>
        <p:spPr>
          <a:xfrm xmlns:a="http://schemas.openxmlformats.org/drawingml/2006/main">
            <a:off x="3048000" y="5572125"/>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Sigmoid converts each output logit into an activity probability.</a:t>
            </a:r>
          </a:p>
        </p:txBody>
      </p:sp>
      <p:sp>
        <p:nvSpPr>
          <p:cNvPr id="25" name="">
            <a:extLst xmlns:a="http://schemas.openxmlformats.org/drawingml/2006/main">
              <a:ext uri="{FF2B5EF4-FFF2-40B4-BE49-F238E27FC236}">
                <a16:creationId xmlns:a16="http://schemas.microsoft.com/office/drawing/2014/main" id="{C9BBB94D-1445-4C51-839E-10339D2D4FDF}"/>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294540483"/>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609FEE4-782C-456A-82E4-866413CAFCCA}"/>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Training strategy</a:t>
            </a:r>
          </a:p>
        </p:txBody>
      </p:sp>
      <p:sp>
        <p:nvSpPr>
          <p:cNvPr id="2" name="">
            <a:extLst xmlns:a="http://schemas.openxmlformats.org/drawingml/2006/main">
              <a:ext uri="{FF2B5EF4-FFF2-40B4-BE49-F238E27FC236}">
                <a16:creationId xmlns:a16="http://schemas.microsoft.com/office/drawing/2014/main" id="{3D34CC03-688D-4A0C-8FD0-A745460CE26D}"/>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9B93DCD8-1B62-47C6-9BB4-977428DE4719}"/>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45E8E44F-9CB7-41C9-BB82-2E7AC20C9F31}"/>
              </a:ext>
            </a:extLst>
          </p:cNvPr>
          <p:cNvSpPr>
            <a:spLocks xmlns:a="http://schemas.openxmlformats.org/drawingml/2006/main" noGrp="1"/>
          </p:cNvSpPr>
          <p:nvPr/>
        </p:nvSpPr>
        <p:spPr>
          <a:xfrm xmlns:a="http://schemas.openxmlformats.org/drawingml/2006/main">
            <a:off x="666750" y="1428750"/>
            <a:ext cx="51435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9E2E8"/>
            </a:solidFill>
          </a:ln>
        </p:spPr>
      </p:sp>
      <p:sp>
        <p:nvSpPr>
          <p:cNvPr id="5" name="">
            <a:extLst xmlns:a="http://schemas.openxmlformats.org/drawingml/2006/main">
              <a:ext uri="{FF2B5EF4-FFF2-40B4-BE49-F238E27FC236}">
                <a16:creationId xmlns:a16="http://schemas.microsoft.com/office/drawing/2014/main" id="{8591120A-2391-4E77-A648-8BC53C2734C3}"/>
              </a:ext>
            </a:extLst>
          </p:cNvPr>
          <p:cNvSpPr>
            <a:spLocks xmlns:a="http://schemas.openxmlformats.org/drawingml/2006/main" noGrp="1"/>
          </p:cNvSpPr>
          <p:nvPr/>
        </p:nvSpPr>
        <p:spPr>
          <a:xfrm xmlns:a="http://schemas.openxmlformats.org/drawingml/2006/main">
            <a:off x="1000125" y="17145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71F33"/>
                </a:solidFill>
                <a:latin typeface="Helvetica Neue"/>
                <a:ea typeface="Helvetica Neue"/>
                <a:cs typeface="Helvetica Neue"/>
              </a:defRPr>
            </a:pPr>
            <a:r>
              <a:rPr sz="1950" b="1">
                <a:solidFill>
                  <a:srgbClr val="071F33"/>
                </a:solidFill>
                <a:latin typeface="Helvetica Neue"/>
                <a:ea typeface="Helvetica Neue"/>
                <a:cs typeface="Helvetica Neue"/>
              </a:rPr>
              <a:t>Missing labels</a:t>
            </a:r>
          </a:p>
        </p:txBody>
      </p:sp>
      <p:sp>
        <p:nvSpPr>
          <p:cNvPr id="6" name="">
            <a:extLst xmlns:a="http://schemas.openxmlformats.org/drawingml/2006/main">
              <a:ext uri="{FF2B5EF4-FFF2-40B4-BE49-F238E27FC236}">
                <a16:creationId xmlns:a16="http://schemas.microsoft.com/office/drawing/2014/main" id="{8D732669-6788-4289-923F-7A6C8C7658AA}"/>
              </a:ext>
            </a:extLst>
          </p:cNvPr>
          <p:cNvSpPr>
            <a:spLocks xmlns:a="http://schemas.openxmlformats.org/drawingml/2006/main" noGrp="1"/>
          </p:cNvSpPr>
          <p:nvPr/>
        </p:nvSpPr>
        <p:spPr>
          <a:xfrm xmlns:a="http://schemas.openxmlformats.org/drawingml/2006/main">
            <a:off x="1000125" y="2238375"/>
            <a:ext cx="423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0F9D8A"/>
                </a:solidFill>
                <a:latin typeface="Helvetica Neue"/>
                <a:ea typeface="Helvetica Neue"/>
                <a:cs typeface="Helvetica Neue"/>
              </a:defRPr>
            </a:pPr>
            <a:r>
              <a:rPr sz="1800" b="1">
                <a:solidFill>
                  <a:srgbClr val="0F9D8A"/>
                </a:solidFill>
                <a:latin typeface="Helvetica Neue"/>
                <a:ea typeface="Helvetica Neue"/>
                <a:cs typeface="Helvetica Neue"/>
              </a:rPr>
              <a:t>L = sum(mask x BCE) / sum(mask)</a:t>
            </a:r>
          </a:p>
        </p:txBody>
      </p:sp>
      <p:sp>
        <p:nvSpPr>
          <p:cNvPr id="7" name="">
            <a:extLst xmlns:a="http://schemas.openxmlformats.org/drawingml/2006/main">
              <a:ext uri="{FF2B5EF4-FFF2-40B4-BE49-F238E27FC236}">
                <a16:creationId xmlns:a16="http://schemas.microsoft.com/office/drawing/2014/main" id="{38CC3462-6A21-4898-B2B1-AA653CBFE14C}"/>
              </a:ext>
            </a:extLst>
          </p:cNvPr>
          <p:cNvSpPr>
            <a:spLocks xmlns:a="http://schemas.openxmlformats.org/drawingml/2006/main" noGrp="1"/>
          </p:cNvSpPr>
          <p:nvPr/>
        </p:nvSpPr>
        <p:spPr>
          <a:xfrm xmlns:a="http://schemas.openxmlformats.org/drawingml/2006/main">
            <a:off x="1000125" y="27813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F7181"/>
                </a:solidFill>
                <a:latin typeface="Helvetica Neue"/>
                <a:ea typeface="Helvetica Neue"/>
                <a:cs typeface="Helvetica Neue"/>
              </a:defRPr>
            </a:pPr>
            <a:r>
              <a:rPr sz="1350" b="0">
                <a:solidFill>
                  <a:srgbClr val="5F7181"/>
                </a:solidFill>
                <a:latin typeface="Helvetica Neue"/>
                <a:ea typeface="Helvetica Neue"/>
                <a:cs typeface="Helvetica Neue"/>
              </a:rPr>
              <a:t>A blank assay label contributes zero loss.</a:t>
            </a:r>
          </a:p>
        </p:txBody>
      </p:sp>
      <p:sp>
        <p:nvSpPr>
          <p:cNvPr id="8" name="">
            <a:extLst xmlns:a="http://schemas.openxmlformats.org/drawingml/2006/main">
              <a:ext uri="{FF2B5EF4-FFF2-40B4-BE49-F238E27FC236}">
                <a16:creationId xmlns:a16="http://schemas.microsoft.com/office/drawing/2014/main" id="{DA0F3B77-F947-4295-81EA-6BA708FB75F1}"/>
              </a:ext>
            </a:extLst>
          </p:cNvPr>
          <p:cNvSpPr>
            <a:spLocks xmlns:a="http://schemas.openxmlformats.org/drawingml/2006/main" noGrp="1"/>
          </p:cNvSpPr>
          <p:nvPr/>
        </p:nvSpPr>
        <p:spPr>
          <a:xfrm xmlns:a="http://schemas.openxmlformats.org/drawingml/2006/main">
            <a:off x="6381750" y="1428750"/>
            <a:ext cx="51435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9E2E8"/>
            </a:solidFill>
          </a:ln>
        </p:spPr>
      </p:sp>
      <p:sp>
        <p:nvSpPr>
          <p:cNvPr id="9" name="">
            <a:extLst xmlns:a="http://schemas.openxmlformats.org/drawingml/2006/main">
              <a:ext uri="{FF2B5EF4-FFF2-40B4-BE49-F238E27FC236}">
                <a16:creationId xmlns:a16="http://schemas.microsoft.com/office/drawing/2014/main" id="{810E333D-5DD3-4A3A-8E62-E32D519C6958}"/>
              </a:ext>
            </a:extLst>
          </p:cNvPr>
          <p:cNvSpPr>
            <a:spLocks xmlns:a="http://schemas.openxmlformats.org/drawingml/2006/main" noGrp="1"/>
          </p:cNvSpPr>
          <p:nvPr/>
        </p:nvSpPr>
        <p:spPr>
          <a:xfrm xmlns:a="http://schemas.openxmlformats.org/drawingml/2006/main">
            <a:off x="6715125" y="17145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71F33"/>
                </a:solidFill>
                <a:latin typeface="Helvetica Neue"/>
                <a:ea typeface="Helvetica Neue"/>
                <a:cs typeface="Helvetica Neue"/>
              </a:defRPr>
            </a:pPr>
            <a:r>
              <a:rPr sz="1950" b="1">
                <a:solidFill>
                  <a:srgbClr val="071F33"/>
                </a:solidFill>
                <a:latin typeface="Helvetica Neue"/>
                <a:ea typeface="Helvetica Neue"/>
                <a:cs typeface="Helvetica Neue"/>
              </a:rPr>
              <a:t>Class imbalance</a:t>
            </a:r>
          </a:p>
        </p:txBody>
      </p:sp>
      <p:sp>
        <p:nvSpPr>
          <p:cNvPr id="10" name="">
            <a:extLst xmlns:a="http://schemas.openxmlformats.org/drawingml/2006/main">
              <a:ext uri="{FF2B5EF4-FFF2-40B4-BE49-F238E27FC236}">
                <a16:creationId xmlns:a16="http://schemas.microsoft.com/office/drawing/2014/main" id="{995A581E-2C31-4634-8A57-DCCF4BCC9CCC}"/>
              </a:ext>
            </a:extLst>
          </p:cNvPr>
          <p:cNvSpPr>
            <a:spLocks xmlns:a="http://schemas.openxmlformats.org/drawingml/2006/main" noGrp="1"/>
          </p:cNvSpPr>
          <p:nvPr/>
        </p:nvSpPr>
        <p:spPr>
          <a:xfrm xmlns:a="http://schemas.openxmlformats.org/drawingml/2006/main">
            <a:off x="6715125" y="2238375"/>
            <a:ext cx="423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0F9D8A"/>
                </a:solidFill>
                <a:latin typeface="Helvetica Neue"/>
                <a:ea typeface="Helvetica Neue"/>
                <a:cs typeface="Helvetica Neue"/>
              </a:defRPr>
            </a:pPr>
            <a:r>
              <a:rPr sz="1800" b="1">
                <a:solidFill>
                  <a:srgbClr val="0F9D8A"/>
                </a:solidFill>
                <a:latin typeface="Helvetica Neue"/>
                <a:ea typeface="Helvetica Neue"/>
                <a:cs typeface="Helvetica Neue"/>
              </a:rPr>
              <a:t>positive weight = inactive / active</a:t>
            </a:r>
          </a:p>
        </p:txBody>
      </p:sp>
      <p:sp>
        <p:nvSpPr>
          <p:cNvPr id="11" name="">
            <a:extLst xmlns:a="http://schemas.openxmlformats.org/drawingml/2006/main">
              <a:ext uri="{FF2B5EF4-FFF2-40B4-BE49-F238E27FC236}">
                <a16:creationId xmlns:a16="http://schemas.microsoft.com/office/drawing/2014/main" id="{227BF676-121C-483B-8ED5-3DA437487675}"/>
              </a:ext>
            </a:extLst>
          </p:cNvPr>
          <p:cNvSpPr>
            <a:spLocks xmlns:a="http://schemas.openxmlformats.org/drawingml/2006/main" noGrp="1"/>
          </p:cNvSpPr>
          <p:nvPr/>
        </p:nvSpPr>
        <p:spPr>
          <a:xfrm xmlns:a="http://schemas.openxmlformats.org/drawingml/2006/main">
            <a:off x="6715125" y="27813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F7181"/>
                </a:solidFill>
                <a:latin typeface="Helvetica Neue"/>
                <a:ea typeface="Helvetica Neue"/>
                <a:cs typeface="Helvetica Neue"/>
              </a:defRPr>
            </a:pPr>
            <a:r>
              <a:rPr sz="1350" b="0">
                <a:solidFill>
                  <a:srgbClr val="5F7181"/>
                </a:solidFill>
                <a:latin typeface="Helvetica Neue"/>
                <a:ea typeface="Helvetica Neue"/>
                <a:cs typeface="Helvetica Neue"/>
              </a:rPr>
              <a:t>Each assay receives its own positive-class weight.</a:t>
            </a:r>
          </a:p>
        </p:txBody>
      </p:sp>
      <p:sp>
        <p:nvSpPr>
          <p:cNvPr id="12" name="">
            <a:extLst xmlns:a="http://schemas.openxmlformats.org/drawingml/2006/main">
              <a:ext uri="{FF2B5EF4-FFF2-40B4-BE49-F238E27FC236}">
                <a16:creationId xmlns:a16="http://schemas.microsoft.com/office/drawing/2014/main" id="{F41D4F91-240D-405C-935F-218429AB1351}"/>
              </a:ext>
            </a:extLst>
          </p:cNvPr>
          <p:cNvSpPr>
            <a:spLocks xmlns:a="http://schemas.openxmlformats.org/drawingml/2006/main" noGrp="1"/>
          </p:cNvSpPr>
          <p:nvPr/>
        </p:nvSpPr>
        <p:spPr>
          <a:xfrm xmlns:a="http://schemas.openxmlformats.org/drawingml/2006/main">
            <a:off x="685800" y="381000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71F33"/>
                </a:solidFill>
                <a:latin typeface="Helvetica Neue"/>
                <a:ea typeface="Helvetica Neue"/>
                <a:cs typeface="Helvetica Neue"/>
              </a:defRPr>
            </a:pPr>
            <a:r>
              <a:rPr sz="1950" b="1">
                <a:solidFill>
                  <a:srgbClr val="071F33"/>
                </a:solidFill>
                <a:latin typeface="Helvetica Neue"/>
                <a:ea typeface="Helvetica Neue"/>
                <a:cs typeface="Helvetica Neue"/>
              </a:rPr>
              <a:t>Scaffold split</a:t>
            </a:r>
          </a:p>
        </p:txBody>
      </p:sp>
      <p:sp>
        <p:nvSpPr>
          <p:cNvPr id="13" name="">
            <a:extLst xmlns:a="http://schemas.openxmlformats.org/drawingml/2006/main">
              <a:ext uri="{FF2B5EF4-FFF2-40B4-BE49-F238E27FC236}">
                <a16:creationId xmlns:a16="http://schemas.microsoft.com/office/drawing/2014/main" id="{BB024261-86B2-48A6-9EFC-5E8F4886A7E8}"/>
              </a:ext>
            </a:extLst>
          </p:cNvPr>
          <p:cNvSpPr>
            <a:spLocks xmlns:a="http://schemas.openxmlformats.org/drawingml/2006/main" noGrp="1"/>
          </p:cNvSpPr>
          <p:nvPr/>
        </p:nvSpPr>
        <p:spPr>
          <a:xfrm xmlns:a="http://schemas.openxmlformats.org/drawingml/2006/main">
            <a:off x="685800" y="4476750"/>
            <a:ext cx="7143750" cy="552450"/>
          </a:xfrm>
          <a:prstGeom xmlns:a="http://schemas.openxmlformats.org/drawingml/2006/main" prst="roundRect">
            <a:avLst>
              <a:gd name="adj" fmla="val 13793"/>
            </a:avLst>
          </a:prstGeom>
          <a:solidFill xmlns:a="http://schemas.openxmlformats.org/drawingml/2006/main">
            <a:srgbClr val="D9E2E8"/>
          </a:solidFill>
          <a:ln xmlns:a="http://schemas.openxmlformats.org/drawingml/2006/main" w="9525">
            <a:solidFill>
              <a:srgbClr val="D9E2E8"/>
            </a:solidFill>
          </a:ln>
        </p:spPr>
      </p:sp>
      <p:sp>
        <p:nvSpPr>
          <p:cNvPr id="14" name="">
            <a:extLst xmlns:a="http://schemas.openxmlformats.org/drawingml/2006/main">
              <a:ext uri="{FF2B5EF4-FFF2-40B4-BE49-F238E27FC236}">
                <a16:creationId xmlns:a16="http://schemas.microsoft.com/office/drawing/2014/main" id="{7ED1A8F8-A246-4198-8FF1-65FA756682E0}"/>
              </a:ext>
            </a:extLst>
          </p:cNvPr>
          <p:cNvSpPr>
            <a:spLocks xmlns:a="http://schemas.openxmlformats.org/drawingml/2006/main" noGrp="1"/>
          </p:cNvSpPr>
          <p:nvPr/>
        </p:nvSpPr>
        <p:spPr>
          <a:xfrm xmlns:a="http://schemas.openxmlformats.org/drawingml/2006/main">
            <a:off x="685800" y="4476750"/>
            <a:ext cx="5715000" cy="552450"/>
          </a:xfrm>
          <a:prstGeom xmlns:a="http://schemas.openxmlformats.org/drawingml/2006/main" prst="roundRect">
            <a:avLst>
              <a:gd name="adj" fmla="val 13793"/>
            </a:avLst>
          </a:prstGeom>
          <a:solidFill xmlns:a="http://schemas.openxmlformats.org/drawingml/2006/main">
            <a:srgbClr val="0F9D8A"/>
          </a:solidFill>
          <a:ln xmlns:a="http://schemas.openxmlformats.org/drawingml/2006/main" w="9525">
            <a:solidFill>
              <a:srgbClr val="0F9D8A"/>
            </a:solidFill>
          </a:ln>
        </p:spPr>
      </p:sp>
      <p:sp>
        <p:nvSpPr>
          <p:cNvPr id="15" name="">
            <a:extLst xmlns:a="http://schemas.openxmlformats.org/drawingml/2006/main">
              <a:ext uri="{FF2B5EF4-FFF2-40B4-BE49-F238E27FC236}">
                <a16:creationId xmlns:a16="http://schemas.microsoft.com/office/drawing/2014/main" id="{86B07C82-1CD5-47EC-8807-3B2A033E2119}"/>
              </a:ext>
            </a:extLst>
          </p:cNvPr>
          <p:cNvSpPr>
            <a:spLocks xmlns:a="http://schemas.openxmlformats.org/drawingml/2006/main" noGrp="1"/>
          </p:cNvSpPr>
          <p:nvPr/>
        </p:nvSpPr>
        <p:spPr>
          <a:xfrm xmlns:a="http://schemas.openxmlformats.org/drawingml/2006/main">
            <a:off x="6400800" y="4476750"/>
            <a:ext cx="714375" cy="552450"/>
          </a:xfrm>
          <a:prstGeom xmlns:a="http://schemas.openxmlformats.org/drawingml/2006/main" prst="rect">
            <a:avLst/>
          </a:prstGeom>
          <a:solidFill xmlns:a="http://schemas.openxmlformats.org/drawingml/2006/main">
            <a:srgbClr val="F59E0B"/>
          </a:solidFill>
          <a:ln xmlns:a="http://schemas.openxmlformats.org/drawingml/2006/main" w="9525">
            <a:solidFill>
              <a:srgbClr val="F59E0B"/>
            </a:solidFill>
          </a:ln>
        </p:spPr>
      </p:sp>
      <p:sp>
        <p:nvSpPr>
          <p:cNvPr id="16" name="">
            <a:extLst xmlns:a="http://schemas.openxmlformats.org/drawingml/2006/main">
              <a:ext uri="{FF2B5EF4-FFF2-40B4-BE49-F238E27FC236}">
                <a16:creationId xmlns:a16="http://schemas.microsoft.com/office/drawing/2014/main" id="{13AE07C7-E58F-4D82-8FE2-C46A8C188B11}"/>
              </a:ext>
            </a:extLst>
          </p:cNvPr>
          <p:cNvSpPr>
            <a:spLocks xmlns:a="http://schemas.openxmlformats.org/drawingml/2006/main" noGrp="1"/>
          </p:cNvSpPr>
          <p:nvPr/>
        </p:nvSpPr>
        <p:spPr>
          <a:xfrm xmlns:a="http://schemas.openxmlformats.org/drawingml/2006/main">
            <a:off x="7115175" y="4476750"/>
            <a:ext cx="714375" cy="552450"/>
          </a:xfrm>
          <a:prstGeom xmlns:a="http://schemas.openxmlformats.org/drawingml/2006/main" prst="roundRect">
            <a:avLst>
              <a:gd name="adj" fmla="val 13793"/>
            </a:avLst>
          </a:prstGeom>
          <a:solidFill xmlns:a="http://schemas.openxmlformats.org/drawingml/2006/main">
            <a:srgbClr val="155E75"/>
          </a:solidFill>
          <a:ln xmlns:a="http://schemas.openxmlformats.org/drawingml/2006/main" w="9525">
            <a:solidFill>
              <a:srgbClr val="155E75"/>
            </a:solidFill>
          </a:ln>
        </p:spPr>
      </p:sp>
      <p:sp>
        <p:nvSpPr>
          <p:cNvPr id="17" name="">
            <a:extLst xmlns:a="http://schemas.openxmlformats.org/drawingml/2006/main">
              <a:ext uri="{FF2B5EF4-FFF2-40B4-BE49-F238E27FC236}">
                <a16:creationId xmlns:a16="http://schemas.microsoft.com/office/drawing/2014/main" id="{62E3684C-0708-451F-B588-6934E6E1B941}"/>
              </a:ext>
            </a:extLst>
          </p:cNvPr>
          <p:cNvSpPr>
            <a:spLocks xmlns:a="http://schemas.openxmlformats.org/drawingml/2006/main" noGrp="1"/>
          </p:cNvSpPr>
          <p:nvPr/>
        </p:nvSpPr>
        <p:spPr>
          <a:xfrm xmlns:a="http://schemas.openxmlformats.org/drawingml/2006/main">
            <a:off x="2762250" y="45910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Train 6,258</a:t>
            </a:r>
          </a:p>
        </p:txBody>
      </p:sp>
      <p:sp>
        <p:nvSpPr>
          <p:cNvPr id="18" name="">
            <a:extLst xmlns:a="http://schemas.openxmlformats.org/drawingml/2006/main">
              <a:ext uri="{FF2B5EF4-FFF2-40B4-BE49-F238E27FC236}">
                <a16:creationId xmlns:a16="http://schemas.microsoft.com/office/drawing/2014/main" id="{9D3FF3D6-8472-44B1-96D7-205149BA9134}"/>
              </a:ext>
            </a:extLst>
          </p:cNvPr>
          <p:cNvSpPr>
            <a:spLocks xmlns:a="http://schemas.openxmlformats.org/drawingml/2006/main" noGrp="1"/>
          </p:cNvSpPr>
          <p:nvPr/>
        </p:nvSpPr>
        <p:spPr>
          <a:xfrm xmlns:a="http://schemas.openxmlformats.org/drawingml/2006/main">
            <a:off x="6524625" y="4591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Val</a:t>
            </a:r>
          </a:p>
        </p:txBody>
      </p:sp>
      <p:sp>
        <p:nvSpPr>
          <p:cNvPr id="19" name="">
            <a:extLst xmlns:a="http://schemas.openxmlformats.org/drawingml/2006/main">
              <a:ext uri="{FF2B5EF4-FFF2-40B4-BE49-F238E27FC236}">
                <a16:creationId xmlns:a16="http://schemas.microsoft.com/office/drawing/2014/main" id="{3E277860-24C2-4839-890D-6BD02705F698}"/>
              </a:ext>
            </a:extLst>
          </p:cNvPr>
          <p:cNvSpPr>
            <a:spLocks xmlns:a="http://schemas.openxmlformats.org/drawingml/2006/main" noGrp="1"/>
          </p:cNvSpPr>
          <p:nvPr/>
        </p:nvSpPr>
        <p:spPr>
          <a:xfrm xmlns:a="http://schemas.openxmlformats.org/drawingml/2006/main">
            <a:off x="7191375" y="45910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Test</a:t>
            </a:r>
          </a:p>
        </p:txBody>
      </p:sp>
      <p:sp>
        <p:nvSpPr>
          <p:cNvPr id="20" name="">
            <a:extLst xmlns:a="http://schemas.openxmlformats.org/drawingml/2006/main">
              <a:ext uri="{FF2B5EF4-FFF2-40B4-BE49-F238E27FC236}">
                <a16:creationId xmlns:a16="http://schemas.microsoft.com/office/drawing/2014/main" id="{52371904-C32D-42FF-AFA0-4A62D826E042}"/>
              </a:ext>
            </a:extLst>
          </p:cNvPr>
          <p:cNvSpPr>
            <a:spLocks xmlns:a="http://schemas.openxmlformats.org/drawingml/2006/main" noGrp="1"/>
          </p:cNvSpPr>
          <p:nvPr/>
        </p:nvSpPr>
        <p:spPr>
          <a:xfrm xmlns:a="http://schemas.openxmlformats.org/drawingml/2006/main">
            <a:off x="685800" y="54292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0">
                <a:solidFill>
                  <a:srgbClr val="122638"/>
                </a:solidFill>
                <a:latin typeface="Helvetica Neue"/>
                <a:ea typeface="Helvetica Neue"/>
                <a:cs typeface="Helvetica Neue"/>
              </a:defRPr>
            </a:pPr>
            <a:r>
              <a:rPr sz="1650" b="0">
                <a:solidFill>
                  <a:srgbClr val="122638"/>
                </a:solidFill>
                <a:latin typeface="Helvetica Neue"/>
                <a:ea typeface="Helvetica Neue"/>
                <a:cs typeface="Helvetica Neue"/>
              </a:rPr>
              <a:t>AdamW  |  batch 128  |  learning rate 0.001  |  early stopping</a:t>
            </a:r>
          </a:p>
        </p:txBody>
      </p:sp>
      <p:sp>
        <p:nvSpPr>
          <p:cNvPr id="21" name="">
            <a:extLst xmlns:a="http://schemas.openxmlformats.org/drawingml/2006/main">
              <a:ext uri="{FF2B5EF4-FFF2-40B4-BE49-F238E27FC236}">
                <a16:creationId xmlns:a16="http://schemas.microsoft.com/office/drawing/2014/main" id="{0377EAA0-BC1D-4EA0-B7ED-C6098FC2A0B6}"/>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10546455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728444-B934-41B5-A837-2856FE8CC05F}"/>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Overall test performance</a:t>
            </a:r>
          </a:p>
        </p:txBody>
      </p:sp>
      <p:sp>
        <p:nvSpPr>
          <p:cNvPr id="2" name="">
            <a:extLst xmlns:a="http://schemas.openxmlformats.org/drawingml/2006/main">
              <a:ext uri="{FF2B5EF4-FFF2-40B4-BE49-F238E27FC236}">
                <a16:creationId xmlns:a16="http://schemas.microsoft.com/office/drawing/2014/main" id="{BBDA3057-6388-4545-9D41-99AF86D433EA}"/>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1213F8DE-3D4D-4567-B8B0-70FA86F7DECA}"/>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graphicFrame>
        <p:nvGraphicFramePr>
          <p:cNvPr id="14" name="Chart"/>
          <p:cNvGraphicFramePr/>
          <p:nvPr/>
        </p:nvGraphicFramePr>
        <p:xfrm>
          <a:off xmlns:a="http://schemas.openxmlformats.org/drawingml/2006/main" x="666750" y="1381125"/>
          <a:ext xmlns:a="http://schemas.openxmlformats.org/drawingml/2006/main" cx="7334250" cy="4191000"/>
        </p:xfrm>
        <a:graphic xmlns:a="http://schemas.openxmlformats.org/drawingml/2006/main">
          <a:graphicData uri="http://schemas.openxmlformats.org/drawingml/2006/chart">
            <c:chart xmlns:r="http://schemas.openxmlformats.org/officeDocument/2006/relationships" xmlns:c="http://schemas.openxmlformats.org/drawingml/2006/chart" r:id="Rc8d35a7a13e44ebb"/>
          </a:graphicData>
        </a:graphic>
      </p:graphicFrame>
      <p:sp>
        <p:nvSpPr>
          <p:cNvPr id="5" name="">
            <a:extLst xmlns:a="http://schemas.openxmlformats.org/drawingml/2006/main">
              <a:ext uri="{FF2B5EF4-FFF2-40B4-BE49-F238E27FC236}">
                <a16:creationId xmlns:a16="http://schemas.microsoft.com/office/drawing/2014/main" id="{E39FCD3B-0E68-42C6-91A6-B7D4F5FEE8FC}"/>
              </a:ext>
            </a:extLst>
          </p:cNvPr>
          <p:cNvSpPr>
            <a:spLocks xmlns:a="http://schemas.openxmlformats.org/drawingml/2006/main" noGrp="1"/>
          </p:cNvSpPr>
          <p:nvPr/>
        </p:nvSpPr>
        <p:spPr>
          <a:xfrm xmlns:a="http://schemas.openxmlformats.org/drawingml/2006/main">
            <a:off x="8810625" y="19526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300" b="1">
                <a:solidFill>
                  <a:srgbClr val="0F9D8A"/>
                </a:solidFill>
                <a:latin typeface="Helvetica Neue"/>
                <a:ea typeface="Helvetica Neue"/>
                <a:cs typeface="Helvetica Neue"/>
              </a:defRPr>
            </a:pPr>
            <a:r>
              <a:rPr sz="3300" b="1">
                <a:solidFill>
                  <a:srgbClr val="0F9D8A"/>
                </a:solidFill>
                <a:latin typeface="Helvetica Neue"/>
                <a:ea typeface="Helvetica Neue"/>
                <a:cs typeface="Helvetica Neue"/>
              </a:rPr>
              <a:t>+0.025</a:t>
            </a:r>
          </a:p>
        </p:txBody>
      </p:sp>
      <p:sp>
        <p:nvSpPr>
          <p:cNvPr id="6" name="">
            <a:extLst xmlns:a="http://schemas.openxmlformats.org/drawingml/2006/main">
              <a:ext uri="{FF2B5EF4-FFF2-40B4-BE49-F238E27FC236}">
                <a16:creationId xmlns:a16="http://schemas.microsoft.com/office/drawing/2014/main" id="{842CCBEE-775C-4EB0-806D-B90B496B29AA}"/>
              </a:ext>
            </a:extLst>
          </p:cNvPr>
          <p:cNvSpPr>
            <a:spLocks xmlns:a="http://schemas.openxmlformats.org/drawingml/2006/main" noGrp="1"/>
          </p:cNvSpPr>
          <p:nvPr/>
        </p:nvSpPr>
        <p:spPr>
          <a:xfrm xmlns:a="http://schemas.openxmlformats.org/drawingml/2006/main">
            <a:off x="8810625" y="25717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F7181"/>
                </a:solidFill>
                <a:latin typeface="Helvetica Neue"/>
                <a:ea typeface="Helvetica Neue"/>
                <a:cs typeface="Helvetica Neue"/>
              </a:defRPr>
            </a:pPr>
            <a:r>
              <a:rPr sz="1425" b="0">
                <a:solidFill>
                  <a:srgbClr val="5F7181"/>
                </a:solidFill>
                <a:latin typeface="Helvetica Neue"/>
                <a:ea typeface="Helvetica Neue"/>
                <a:cs typeface="Helvetica Neue"/>
              </a:rPr>
              <a:t>mean ROC-AUC</a:t>
            </a:r>
          </a:p>
        </p:txBody>
      </p:sp>
      <p:sp>
        <p:nvSpPr>
          <p:cNvPr id="7" name="">
            <a:extLst xmlns:a="http://schemas.openxmlformats.org/drawingml/2006/main">
              <a:ext uri="{FF2B5EF4-FFF2-40B4-BE49-F238E27FC236}">
                <a16:creationId xmlns:a16="http://schemas.microsoft.com/office/drawing/2014/main" id="{0F93D23A-1290-4736-96AC-D007867BE0AB}"/>
              </a:ext>
            </a:extLst>
          </p:cNvPr>
          <p:cNvSpPr>
            <a:spLocks xmlns:a="http://schemas.openxmlformats.org/drawingml/2006/main" noGrp="1"/>
          </p:cNvSpPr>
          <p:nvPr/>
        </p:nvSpPr>
        <p:spPr>
          <a:xfrm xmlns:a="http://schemas.openxmlformats.org/drawingml/2006/main">
            <a:off x="8810625" y="3571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300" b="1">
                <a:solidFill>
                  <a:srgbClr val="0F9D8A"/>
                </a:solidFill>
                <a:latin typeface="Helvetica Neue"/>
                <a:ea typeface="Helvetica Neue"/>
                <a:cs typeface="Helvetica Neue"/>
              </a:defRPr>
            </a:pPr>
            <a:r>
              <a:rPr sz="3300" b="1">
                <a:solidFill>
                  <a:srgbClr val="0F9D8A"/>
                </a:solidFill>
                <a:latin typeface="Helvetica Neue"/>
                <a:ea typeface="Helvetica Neue"/>
                <a:cs typeface="Helvetica Neue"/>
              </a:rPr>
              <a:t>+0.035</a:t>
            </a:r>
          </a:p>
        </p:txBody>
      </p:sp>
      <p:sp>
        <p:nvSpPr>
          <p:cNvPr id="8" name="">
            <a:extLst xmlns:a="http://schemas.openxmlformats.org/drawingml/2006/main">
              <a:ext uri="{FF2B5EF4-FFF2-40B4-BE49-F238E27FC236}">
                <a16:creationId xmlns:a16="http://schemas.microsoft.com/office/drawing/2014/main" id="{12CB2FA4-5B37-47EF-A0F3-476AEB4320CE}"/>
              </a:ext>
            </a:extLst>
          </p:cNvPr>
          <p:cNvSpPr>
            <a:spLocks xmlns:a="http://schemas.openxmlformats.org/drawingml/2006/main" noGrp="1"/>
          </p:cNvSpPr>
          <p:nvPr/>
        </p:nvSpPr>
        <p:spPr>
          <a:xfrm xmlns:a="http://schemas.openxmlformats.org/drawingml/2006/main">
            <a:off x="8810625" y="419100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F7181"/>
                </a:solidFill>
                <a:latin typeface="Helvetica Neue"/>
                <a:ea typeface="Helvetica Neue"/>
                <a:cs typeface="Helvetica Neue"/>
              </a:defRPr>
            </a:pPr>
            <a:r>
              <a:rPr sz="1425" b="0">
                <a:solidFill>
                  <a:srgbClr val="5F7181"/>
                </a:solidFill>
                <a:latin typeface="Helvetica Neue"/>
                <a:ea typeface="Helvetica Neue"/>
                <a:cs typeface="Helvetica Neue"/>
              </a:rPr>
              <a:t>mean PR-AUC</a:t>
            </a:r>
          </a:p>
        </p:txBody>
      </p:sp>
      <p:sp>
        <p:nvSpPr>
          <p:cNvPr id="9" name="">
            <a:extLst xmlns:a="http://schemas.openxmlformats.org/drawingml/2006/main">
              <a:ext uri="{FF2B5EF4-FFF2-40B4-BE49-F238E27FC236}">
                <a16:creationId xmlns:a16="http://schemas.microsoft.com/office/drawing/2014/main" id="{6CD61B9F-8FF9-41C2-8174-332597FC3777}"/>
              </a:ext>
            </a:extLst>
          </p:cNvPr>
          <p:cNvSpPr>
            <a:spLocks xmlns:a="http://schemas.openxmlformats.org/drawingml/2006/main" noGrp="1"/>
          </p:cNvSpPr>
          <p:nvPr/>
        </p:nvSpPr>
        <p:spPr>
          <a:xfrm xmlns:a="http://schemas.openxmlformats.org/drawingml/2006/main">
            <a:off x="8620125" y="50006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155E75"/>
                </a:solidFill>
                <a:latin typeface="Helvetica Neue"/>
                <a:ea typeface="Helvetica Neue"/>
                <a:cs typeface="Helvetica Neue"/>
              </a:defRPr>
            </a:pPr>
            <a:r>
              <a:rPr sz="1425" b="1">
                <a:solidFill>
                  <a:srgbClr val="155E75"/>
                </a:solidFill>
                <a:latin typeface="Helvetica Neue"/>
                <a:ea typeface="Helvetica Neue"/>
                <a:cs typeface="Helvetica Neue"/>
              </a:rPr>
              <a:t>Held-out scaffold test set</a:t>
            </a:r>
          </a:p>
        </p:txBody>
      </p:sp>
      <p:sp>
        <p:nvSpPr>
          <p:cNvPr id="10" name="">
            <a:extLst xmlns:a="http://schemas.openxmlformats.org/drawingml/2006/main">
              <a:ext uri="{FF2B5EF4-FFF2-40B4-BE49-F238E27FC236}">
                <a16:creationId xmlns:a16="http://schemas.microsoft.com/office/drawing/2014/main" id="{36534041-72CE-4EAC-82B9-0FFA493C99D4}"/>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820002752"/>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446BAEC-882D-4930-9547-A217DFA4350C}"/>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Per-assay ROC-AUC</a:t>
            </a:r>
          </a:p>
        </p:txBody>
      </p:sp>
      <p:sp>
        <p:nvSpPr>
          <p:cNvPr id="2" name="">
            <a:extLst xmlns:a="http://schemas.openxmlformats.org/drawingml/2006/main">
              <a:ext uri="{FF2B5EF4-FFF2-40B4-BE49-F238E27FC236}">
                <a16:creationId xmlns:a16="http://schemas.microsoft.com/office/drawing/2014/main" id="{86956626-B62F-4ED4-A60B-4F978737B50C}"/>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EE527FAF-6153-4EB0-A958-E00B2372A0F8}"/>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graphicFrame>
        <p:nvGraphicFramePr>
          <p:cNvPr id="14" name="Chart"/>
          <p:cNvGraphicFramePr/>
          <p:nvPr/>
        </p:nvGraphicFramePr>
        <p:xfrm>
          <a:off xmlns:a="http://schemas.openxmlformats.org/drawingml/2006/main" x="619125" y="1219200"/>
          <a:ext xmlns:a="http://schemas.openxmlformats.org/drawingml/2006/main" cx="8858250" cy="4905375"/>
        </p:xfrm>
        <a:graphic xmlns:a="http://schemas.openxmlformats.org/drawingml/2006/main">
          <a:graphicData uri="http://schemas.openxmlformats.org/drawingml/2006/chart">
            <c:chart xmlns:r="http://schemas.openxmlformats.org/officeDocument/2006/relationships" xmlns:c="http://schemas.openxmlformats.org/drawingml/2006/chart" r:id="R0db4258f1e4947f8"/>
          </a:graphicData>
        </a:graphic>
      </p:graphicFrame>
      <p:sp>
        <p:nvSpPr>
          <p:cNvPr id="5" name="">
            <a:extLst xmlns:a="http://schemas.openxmlformats.org/drawingml/2006/main">
              <a:ext uri="{FF2B5EF4-FFF2-40B4-BE49-F238E27FC236}">
                <a16:creationId xmlns:a16="http://schemas.microsoft.com/office/drawing/2014/main" id="{2CD1E28A-472C-489F-8138-4BDDF5666D30}"/>
              </a:ext>
            </a:extLst>
          </p:cNvPr>
          <p:cNvSpPr>
            <a:spLocks xmlns:a="http://schemas.openxmlformats.org/drawingml/2006/main" noGrp="1"/>
          </p:cNvSpPr>
          <p:nvPr/>
        </p:nvSpPr>
        <p:spPr>
          <a:xfrm xmlns:a="http://schemas.openxmlformats.org/drawingml/2006/main">
            <a:off x="9667875" y="2000250"/>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225" b="1">
                <a:solidFill>
                  <a:srgbClr val="0F9D8A"/>
                </a:solidFill>
                <a:latin typeface="Helvetica Neue"/>
                <a:ea typeface="Helvetica Neue"/>
                <a:cs typeface="Helvetica Neue"/>
              </a:defRPr>
            </a:pPr>
            <a:r>
              <a:rPr sz="3225" b="1">
                <a:solidFill>
                  <a:srgbClr val="0F9D8A"/>
                </a:solidFill>
                <a:latin typeface="Helvetica Neue"/>
                <a:ea typeface="Helvetica Neue"/>
                <a:cs typeface="Helvetica Neue"/>
              </a:rPr>
              <a:t>9 of 12</a:t>
            </a:r>
          </a:p>
        </p:txBody>
      </p:sp>
      <p:sp>
        <p:nvSpPr>
          <p:cNvPr id="6" name="">
            <a:extLst xmlns:a="http://schemas.openxmlformats.org/drawingml/2006/main">
              <a:ext uri="{FF2B5EF4-FFF2-40B4-BE49-F238E27FC236}">
                <a16:creationId xmlns:a16="http://schemas.microsoft.com/office/drawing/2014/main" id="{127237B0-46EB-482B-975D-B68EE068D315}"/>
              </a:ext>
            </a:extLst>
          </p:cNvPr>
          <p:cNvSpPr>
            <a:spLocks xmlns:a="http://schemas.openxmlformats.org/drawingml/2006/main" noGrp="1"/>
          </p:cNvSpPr>
          <p:nvPr/>
        </p:nvSpPr>
        <p:spPr>
          <a:xfrm xmlns:a="http://schemas.openxmlformats.org/drawingml/2006/main">
            <a:off x="9667875" y="2619375"/>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F7181"/>
                </a:solidFill>
                <a:latin typeface="Helvetica Neue"/>
                <a:ea typeface="Helvetica Neue"/>
                <a:cs typeface="Helvetica Neue"/>
              </a:defRPr>
            </a:pPr>
            <a:r>
              <a:rPr sz="1350" b="0">
                <a:solidFill>
                  <a:srgbClr val="5F7181"/>
                </a:solidFill>
                <a:latin typeface="Helvetica Neue"/>
                <a:ea typeface="Helvetica Neue"/>
                <a:cs typeface="Helvetica Neue"/>
              </a:rPr>
              <a:t>assays improved</a:t>
            </a:r>
          </a:p>
        </p:txBody>
      </p:sp>
      <p:sp>
        <p:nvSpPr>
          <p:cNvPr id="7" name="">
            <a:extLst xmlns:a="http://schemas.openxmlformats.org/drawingml/2006/main">
              <a:ext uri="{FF2B5EF4-FFF2-40B4-BE49-F238E27FC236}">
                <a16:creationId xmlns:a16="http://schemas.microsoft.com/office/drawing/2014/main" id="{E14247BF-38C1-47CF-A6A6-83004A7DC12C}"/>
              </a:ext>
            </a:extLst>
          </p:cNvPr>
          <p:cNvSpPr>
            <a:spLocks xmlns:a="http://schemas.openxmlformats.org/drawingml/2006/main" noGrp="1"/>
          </p:cNvSpPr>
          <p:nvPr/>
        </p:nvSpPr>
        <p:spPr>
          <a:xfrm xmlns:a="http://schemas.openxmlformats.org/drawingml/2006/main">
            <a:off x="9715500" y="3476625"/>
            <a:ext cx="1857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1">
                <a:solidFill>
                  <a:srgbClr val="071F33"/>
                </a:solidFill>
                <a:latin typeface="Helvetica Neue"/>
                <a:ea typeface="Helvetica Neue"/>
                <a:cs typeface="Helvetica Neue"/>
              </a:defRPr>
            </a:pPr>
            <a:r>
              <a:rPr sz="1575" b="1">
                <a:solidFill>
                  <a:srgbClr val="071F33"/>
                </a:solidFill>
                <a:latin typeface="Helvetica Neue"/>
                <a:ea typeface="Helvetica Neue"/>
                <a:cs typeface="Helvetica Neue"/>
              </a:rPr>
              <a:t>Largest gains</a:t>
            </a:r>
          </a:p>
        </p:txBody>
      </p:sp>
      <p:sp>
        <p:nvSpPr>
          <p:cNvPr id="8" name="">
            <a:extLst xmlns:a="http://schemas.openxmlformats.org/drawingml/2006/main">
              <a:ext uri="{FF2B5EF4-FFF2-40B4-BE49-F238E27FC236}">
                <a16:creationId xmlns:a16="http://schemas.microsoft.com/office/drawing/2014/main" id="{2CFAB405-97AC-4279-8B96-A316FED25A94}"/>
              </a:ext>
            </a:extLst>
          </p:cNvPr>
          <p:cNvSpPr>
            <a:spLocks xmlns:a="http://schemas.openxmlformats.org/drawingml/2006/main" noGrp="1"/>
          </p:cNvSpPr>
          <p:nvPr/>
        </p:nvSpPr>
        <p:spPr>
          <a:xfrm xmlns:a="http://schemas.openxmlformats.org/drawingml/2006/main">
            <a:off x="9715500" y="3905250"/>
            <a:ext cx="1857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0">
                <a:solidFill>
                  <a:srgbClr val="155E75"/>
                </a:solidFill>
                <a:latin typeface="Helvetica Neue"/>
                <a:ea typeface="Helvetica Neue"/>
                <a:cs typeface="Helvetica Neue"/>
              </a:defRPr>
            </a:pPr>
            <a:r>
              <a:rPr sz="1650" b="0">
                <a:solidFill>
                  <a:srgbClr val="155E75"/>
                </a:solidFill>
                <a:latin typeface="Helvetica Neue"/>
                <a:ea typeface="Helvetica Neue"/>
                <a:cs typeface="Helvetica Neue"/>
              </a:rPr>
              <a:t>NR-PPAR-gamma</a:t>
            </a:r>
          </a:p>
          <a:p xmlns:a="http://schemas.openxmlformats.org/drawingml/2006/main">
            <a:pPr algn="ctr">
              <a:defRPr sz="1650" b="0">
                <a:solidFill>
                  <a:srgbClr val="155E75"/>
                </a:solidFill>
                <a:latin typeface="Helvetica Neue"/>
                <a:ea typeface="Helvetica Neue"/>
                <a:cs typeface="Helvetica Neue"/>
              </a:defRPr>
            </a:pPr>
            <a:r>
              <a:rPr sz="1650" b="0">
                <a:solidFill>
                  <a:srgbClr val="155E75"/>
                </a:solidFill>
                <a:latin typeface="Helvetica Neue"/>
                <a:ea typeface="Helvetica Neue"/>
                <a:cs typeface="Helvetica Neue"/>
              </a:rPr>
              <a:t>SR-HSE</a:t>
            </a:r>
          </a:p>
        </p:txBody>
      </p:sp>
      <p:sp>
        <p:nvSpPr>
          <p:cNvPr id="9" name="">
            <a:extLst xmlns:a="http://schemas.openxmlformats.org/drawingml/2006/main">
              <a:ext uri="{FF2B5EF4-FFF2-40B4-BE49-F238E27FC236}">
                <a16:creationId xmlns:a16="http://schemas.microsoft.com/office/drawing/2014/main" id="{EA08D33B-1653-4A26-A2A8-B77FE87704A0}"/>
              </a:ext>
            </a:extLst>
          </p:cNvPr>
          <p:cNvSpPr>
            <a:spLocks xmlns:a="http://schemas.openxmlformats.org/drawingml/2006/main" noGrp="1"/>
          </p:cNvSpPr>
          <p:nvPr/>
        </p:nvSpPr>
        <p:spPr>
          <a:xfrm xmlns:a="http://schemas.openxmlformats.org/drawingml/2006/main">
            <a:off x="9715500" y="4953000"/>
            <a:ext cx="1857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C2413A"/>
                </a:solidFill>
                <a:latin typeface="Helvetica Neue"/>
                <a:ea typeface="Helvetica Neue"/>
                <a:cs typeface="Helvetica Neue"/>
              </a:defRPr>
            </a:pPr>
            <a:r>
              <a:rPr sz="1275" b="0">
                <a:solidFill>
                  <a:srgbClr val="C2413A"/>
                </a:solidFill>
                <a:latin typeface="Helvetica Neue"/>
                <a:ea typeface="Helvetica Neue"/>
                <a:cs typeface="Helvetica Neue"/>
              </a:rPr>
              <a:t>Baseline wins</a:t>
            </a:r>
          </a:p>
          <a:p xmlns:a="http://schemas.openxmlformats.org/drawingml/2006/main">
            <a:pPr algn="ctr">
              <a:defRPr sz="1275" b="0">
                <a:solidFill>
                  <a:srgbClr val="C2413A"/>
                </a:solidFill>
                <a:latin typeface="Helvetica Neue"/>
                <a:ea typeface="Helvetica Neue"/>
                <a:cs typeface="Helvetica Neue"/>
              </a:defRPr>
            </a:pPr>
            <a:r>
              <a:rPr sz="1275" b="0">
                <a:solidFill>
                  <a:srgbClr val="C2413A"/>
                </a:solidFill>
                <a:latin typeface="Helvetica Neue"/>
                <a:ea typeface="Helvetica Neue"/>
                <a:cs typeface="Helvetica Neue"/>
              </a:rPr>
              <a:t>NR-AR</a:t>
            </a:r>
          </a:p>
          <a:p xmlns:a="http://schemas.openxmlformats.org/drawingml/2006/main">
            <a:pPr algn="ctr">
              <a:defRPr sz="1275" b="0">
                <a:solidFill>
                  <a:srgbClr val="C2413A"/>
                </a:solidFill>
                <a:latin typeface="Helvetica Neue"/>
                <a:ea typeface="Helvetica Neue"/>
                <a:cs typeface="Helvetica Neue"/>
              </a:defRPr>
            </a:pPr>
            <a:r>
              <a:rPr sz="1275" b="0">
                <a:solidFill>
                  <a:srgbClr val="C2413A"/>
                </a:solidFill>
                <a:latin typeface="Helvetica Neue"/>
                <a:ea typeface="Helvetica Neue"/>
                <a:cs typeface="Helvetica Neue"/>
              </a:rPr>
              <a:t>NR-AR-LBD</a:t>
            </a:r>
          </a:p>
          <a:p xmlns:a="http://schemas.openxmlformats.org/drawingml/2006/main">
            <a:pPr algn="ctr">
              <a:defRPr sz="1275" b="0">
                <a:solidFill>
                  <a:srgbClr val="C2413A"/>
                </a:solidFill>
                <a:latin typeface="Helvetica Neue"/>
                <a:ea typeface="Helvetica Neue"/>
                <a:cs typeface="Helvetica Neue"/>
              </a:defRPr>
            </a:pPr>
            <a:r>
              <a:rPr sz="1275" b="0">
                <a:solidFill>
                  <a:srgbClr val="C2413A"/>
                </a:solidFill>
                <a:latin typeface="Helvetica Neue"/>
                <a:ea typeface="Helvetica Neue"/>
                <a:cs typeface="Helvetica Neue"/>
              </a:rPr>
              <a:t>NR-Aromatase</a:t>
            </a:r>
          </a:p>
        </p:txBody>
      </p:sp>
      <p:sp>
        <p:nvSpPr>
          <p:cNvPr id="10" name="">
            <a:extLst xmlns:a="http://schemas.openxmlformats.org/drawingml/2006/main">
              <a:ext uri="{FF2B5EF4-FFF2-40B4-BE49-F238E27FC236}">
                <a16:creationId xmlns:a16="http://schemas.microsoft.com/office/drawing/2014/main" id="{2B1C45F3-FEBF-4249-A6A6-32F8C1895CDE}"/>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04157839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E772385-1815-4967-B35B-5F97F7E9F2BC}"/>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Why the proposed approach helps</a:t>
            </a:r>
          </a:p>
        </p:txBody>
      </p:sp>
      <p:sp>
        <p:nvSpPr>
          <p:cNvPr id="2" name="">
            <a:extLst xmlns:a="http://schemas.openxmlformats.org/drawingml/2006/main">
              <a:ext uri="{FF2B5EF4-FFF2-40B4-BE49-F238E27FC236}">
                <a16:creationId xmlns:a16="http://schemas.microsoft.com/office/drawing/2014/main" id="{CE5ABCFB-761D-4841-9030-93AA4EE2742C}"/>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EE62D07B-697C-4DC0-B38B-D4028DE48350}"/>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D5ACDCD4-20C1-4360-916E-513D30BB0BD5}"/>
              </a:ext>
            </a:extLst>
          </p:cNvPr>
          <p:cNvSpPr>
            <a:spLocks xmlns:a="http://schemas.openxmlformats.org/drawingml/2006/main" noGrp="1"/>
          </p:cNvSpPr>
          <p:nvPr/>
        </p:nvSpPr>
        <p:spPr>
          <a:xfrm xmlns:a="http://schemas.openxmlformats.org/drawingml/2006/main">
            <a:off x="685800" y="14287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F7181"/>
                </a:solidFill>
                <a:latin typeface="Helvetica Neue"/>
                <a:ea typeface="Helvetica Neue"/>
                <a:cs typeface="Helvetica Neue"/>
              </a:defRPr>
            </a:pPr>
            <a:r>
              <a:rPr sz="2025" b="1">
                <a:solidFill>
                  <a:srgbClr val="5F7181"/>
                </a:solidFill>
                <a:latin typeface="Helvetica Neue"/>
                <a:ea typeface="Helvetica Neue"/>
                <a:cs typeface="Helvetica Neue"/>
              </a:rPr>
              <a:t>Single-task logistic baseline</a:t>
            </a:r>
          </a:p>
        </p:txBody>
      </p:sp>
      <p:sp>
        <p:nvSpPr>
          <p:cNvPr id="5" name="">
            <a:extLst xmlns:a="http://schemas.openxmlformats.org/drawingml/2006/main">
              <a:ext uri="{FF2B5EF4-FFF2-40B4-BE49-F238E27FC236}">
                <a16:creationId xmlns:a16="http://schemas.microsoft.com/office/drawing/2014/main" id="{707704BA-0F7D-4E89-893A-79476DB03F02}"/>
              </a:ext>
            </a:extLst>
          </p:cNvPr>
          <p:cNvSpPr>
            <a:spLocks xmlns:a="http://schemas.openxmlformats.org/drawingml/2006/main" noGrp="1"/>
          </p:cNvSpPr>
          <p:nvPr/>
        </p:nvSpPr>
        <p:spPr>
          <a:xfrm xmlns:a="http://schemas.openxmlformats.org/drawingml/2006/main">
            <a:off x="685800" y="2095500"/>
            <a:ext cx="4667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Fits each assay independently</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Linear decision boundary</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Fast and easy to explain</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Higher ROC-AUC on 3 assays</a:t>
            </a:r>
          </a:p>
        </p:txBody>
      </p:sp>
      <p:sp>
        <p:nvSpPr>
          <p:cNvPr id="6" name="">
            <a:extLst xmlns:a="http://schemas.openxmlformats.org/drawingml/2006/main">
              <a:ext uri="{FF2B5EF4-FFF2-40B4-BE49-F238E27FC236}">
                <a16:creationId xmlns:a16="http://schemas.microsoft.com/office/drawing/2014/main" id="{AF6A5E1A-2428-4FCC-86A0-78E208956300}"/>
              </a:ext>
            </a:extLst>
          </p:cNvPr>
          <p:cNvSpPr>
            <a:spLocks xmlns:a="http://schemas.openxmlformats.org/drawingml/2006/main" noGrp="1"/>
          </p:cNvSpPr>
          <p:nvPr/>
        </p:nvSpPr>
        <p:spPr>
          <a:xfrm xmlns:a="http://schemas.openxmlformats.org/drawingml/2006/main">
            <a:off x="5905500" y="1381125"/>
            <a:ext cx="38100" cy="4000500"/>
          </a:xfrm>
          <a:prstGeom xmlns:a="http://schemas.openxmlformats.org/drawingml/2006/main" prst="rect">
            <a:avLst/>
          </a:prstGeom>
          <a:solidFill xmlns:a="http://schemas.openxmlformats.org/drawingml/2006/main">
            <a:srgbClr val="D9E2E8"/>
          </a:solidFill>
          <a:ln xmlns:a="http://schemas.openxmlformats.org/drawingml/2006/main" w="9525">
            <a:solidFill>
              <a:srgbClr val="D9E2E8"/>
            </a:solidFill>
          </a:ln>
        </p:spPr>
      </p:sp>
      <p:sp>
        <p:nvSpPr>
          <p:cNvPr id="7" name="">
            <a:extLst xmlns:a="http://schemas.openxmlformats.org/drawingml/2006/main">
              <a:ext uri="{FF2B5EF4-FFF2-40B4-BE49-F238E27FC236}">
                <a16:creationId xmlns:a16="http://schemas.microsoft.com/office/drawing/2014/main" id="{3A2ABF74-4139-481A-84F5-854702B0272F}"/>
              </a:ext>
            </a:extLst>
          </p:cNvPr>
          <p:cNvSpPr>
            <a:spLocks xmlns:a="http://schemas.openxmlformats.org/drawingml/2006/main" noGrp="1"/>
          </p:cNvSpPr>
          <p:nvPr/>
        </p:nvSpPr>
        <p:spPr>
          <a:xfrm xmlns:a="http://schemas.openxmlformats.org/drawingml/2006/main">
            <a:off x="6524625" y="14287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9D8A"/>
                </a:solidFill>
                <a:latin typeface="Helvetica Neue"/>
                <a:ea typeface="Helvetica Neue"/>
                <a:cs typeface="Helvetica Neue"/>
              </a:defRPr>
            </a:pPr>
            <a:r>
              <a:rPr sz="2025" b="1">
                <a:solidFill>
                  <a:srgbClr val="0F9D8A"/>
                </a:solidFill>
                <a:latin typeface="Helvetica Neue"/>
                <a:ea typeface="Helvetica Neue"/>
                <a:cs typeface="Helvetica Neue"/>
              </a:rPr>
              <a:t>Proposed multi-task MLP</a:t>
            </a:r>
          </a:p>
        </p:txBody>
      </p:sp>
      <p:sp>
        <p:nvSpPr>
          <p:cNvPr id="8" name="">
            <a:extLst xmlns:a="http://schemas.openxmlformats.org/drawingml/2006/main">
              <a:ext uri="{FF2B5EF4-FFF2-40B4-BE49-F238E27FC236}">
                <a16:creationId xmlns:a16="http://schemas.microsoft.com/office/drawing/2014/main" id="{932F91E6-6965-4E2D-A4A5-03E7B8236442}"/>
              </a:ext>
            </a:extLst>
          </p:cNvPr>
          <p:cNvSpPr>
            <a:spLocks xmlns:a="http://schemas.openxmlformats.org/drawingml/2006/main" noGrp="1"/>
          </p:cNvSpPr>
          <p:nvPr/>
        </p:nvSpPr>
        <p:spPr>
          <a:xfrm xmlns:a="http://schemas.openxmlformats.org/drawingml/2006/main">
            <a:off x="6524625" y="2095500"/>
            <a:ext cx="4667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Shares chemical patterns across assays</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Learns nonlinear relationships</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Masks missing labels during training</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Improves mean ROC-AUC and PR-AUC</a:t>
            </a:r>
          </a:p>
        </p:txBody>
      </p:sp>
      <p:sp>
        <p:nvSpPr>
          <p:cNvPr id="9" name="">
            <a:extLst xmlns:a="http://schemas.openxmlformats.org/drawingml/2006/main">
              <a:ext uri="{FF2B5EF4-FFF2-40B4-BE49-F238E27FC236}">
                <a16:creationId xmlns:a16="http://schemas.microsoft.com/office/drawing/2014/main" id="{70457C35-E6F7-44BE-8BC2-37A2FD005119}"/>
              </a:ext>
            </a:extLst>
          </p:cNvPr>
          <p:cNvSpPr>
            <a:spLocks xmlns:a="http://schemas.openxmlformats.org/drawingml/2006/main" noGrp="1"/>
          </p:cNvSpPr>
          <p:nvPr/>
        </p:nvSpPr>
        <p:spPr>
          <a:xfrm xmlns:a="http://schemas.openxmlformats.org/drawingml/2006/main">
            <a:off x="1428750" y="5095875"/>
            <a:ext cx="9334500" cy="714375"/>
          </a:xfrm>
          <a:prstGeom xmlns:a="http://schemas.openxmlformats.org/drawingml/2006/main" prst="roundRect">
            <a:avLst>
              <a:gd name="adj" fmla="val 10667"/>
            </a:avLst>
          </a:prstGeom>
          <a:solidFill xmlns:a="http://schemas.openxmlformats.org/drawingml/2006/main">
            <a:srgbClr val="071F33"/>
          </a:solidFill>
          <a:ln xmlns:a="http://schemas.openxmlformats.org/drawingml/2006/main" w="9525">
            <a:solidFill>
              <a:srgbClr val="071F33"/>
            </a:solidFill>
          </a:ln>
        </p:spPr>
      </p:sp>
      <p:sp>
        <p:nvSpPr>
          <p:cNvPr id="10" name="">
            <a:extLst xmlns:a="http://schemas.openxmlformats.org/drawingml/2006/main">
              <a:ext uri="{FF2B5EF4-FFF2-40B4-BE49-F238E27FC236}">
                <a16:creationId xmlns:a16="http://schemas.microsoft.com/office/drawing/2014/main" id="{1F43FB31-F4F4-43A3-9BD0-DA9483A6B13B}"/>
              </a:ext>
            </a:extLst>
          </p:cNvPr>
          <p:cNvSpPr>
            <a:spLocks xmlns:a="http://schemas.openxmlformats.org/drawingml/2006/main" noGrp="1"/>
          </p:cNvSpPr>
          <p:nvPr/>
        </p:nvSpPr>
        <p:spPr>
          <a:xfrm xmlns:a="http://schemas.openxmlformats.org/drawingml/2006/main">
            <a:off x="1762125" y="5267325"/>
            <a:ext cx="866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Measured conclusion: better average performance on this scaffold split, not universal superiority.</a:t>
            </a:r>
          </a:p>
        </p:txBody>
      </p:sp>
      <p:sp>
        <p:nvSpPr>
          <p:cNvPr id="11" name="">
            <a:extLst xmlns:a="http://schemas.openxmlformats.org/drawingml/2006/main">
              <a:ext uri="{FF2B5EF4-FFF2-40B4-BE49-F238E27FC236}">
                <a16:creationId xmlns:a16="http://schemas.microsoft.com/office/drawing/2014/main" id="{DFDB919A-B229-4EE2-A9D4-8D264ADE31CB}"/>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063113058"/>
      </p:ext>
    </p:extLst>
  </p:cSld>
</p:sld>
</file>

<file path=ppt/slides/slide1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6B68D82-98D0-4879-97F6-08486BB64A60}"/>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Streamlit prediction interface</a:t>
            </a:r>
          </a:p>
        </p:txBody>
      </p:sp>
      <p:sp>
        <p:nvSpPr>
          <p:cNvPr id="2" name="">
            <a:extLst xmlns:a="http://schemas.openxmlformats.org/drawingml/2006/main">
              <a:ext uri="{FF2B5EF4-FFF2-40B4-BE49-F238E27FC236}">
                <a16:creationId xmlns:a16="http://schemas.microsoft.com/office/drawing/2014/main" id="{CACBF8FC-ADA1-4576-8157-7D525DE75526}"/>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A38F9417-FE33-4A7F-93FD-15C50B392EE5}"/>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3A88F487-5A62-46DD-958E-BE83884E340D}"/>
              </a:ext>
            </a:extLst>
          </p:cNvPr>
          <p:cNvSpPr>
            <a:spLocks xmlns:a="http://schemas.openxmlformats.org/drawingml/2006/main" noGrp="1"/>
          </p:cNvSpPr>
          <p:nvPr/>
        </p:nvSpPr>
        <p:spPr>
          <a:xfrm xmlns:a="http://schemas.openxmlformats.org/drawingml/2006/main">
            <a:off x="666750" y="1666875"/>
            <a:ext cx="1952625"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155E75"/>
            </a:solidFill>
          </a:ln>
        </p:spPr>
      </p:sp>
      <p:sp>
        <p:nvSpPr>
          <p:cNvPr id="5" name="">
            <a:extLst xmlns:a="http://schemas.openxmlformats.org/drawingml/2006/main">
              <a:ext uri="{FF2B5EF4-FFF2-40B4-BE49-F238E27FC236}">
                <a16:creationId xmlns:a16="http://schemas.microsoft.com/office/drawing/2014/main" id="{1022F5BE-EFA3-4DAB-A419-9FB520F50384}"/>
              </a:ext>
            </a:extLst>
          </p:cNvPr>
          <p:cNvSpPr>
            <a:spLocks xmlns:a="http://schemas.openxmlformats.org/drawingml/2006/main" noGrp="1"/>
          </p:cNvSpPr>
          <p:nvPr/>
        </p:nvSpPr>
        <p:spPr>
          <a:xfrm xmlns:a="http://schemas.openxmlformats.org/drawingml/2006/main">
            <a:off x="800100" y="1781175"/>
            <a:ext cx="1685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1. Enter SMILES</a:t>
            </a:r>
          </a:p>
        </p:txBody>
      </p:sp>
      <p:sp>
        <p:nvSpPr>
          <p:cNvPr id="6" name="">
            <a:extLst xmlns:a="http://schemas.openxmlformats.org/drawingml/2006/main">
              <a:ext uri="{FF2B5EF4-FFF2-40B4-BE49-F238E27FC236}">
                <a16:creationId xmlns:a16="http://schemas.microsoft.com/office/drawing/2014/main" id="{119EC9D1-30EE-42AD-B8D5-49872E20D968}"/>
              </a:ext>
            </a:extLst>
          </p:cNvPr>
          <p:cNvSpPr>
            <a:spLocks xmlns:a="http://schemas.openxmlformats.org/drawingml/2006/main" noGrp="1"/>
          </p:cNvSpPr>
          <p:nvPr/>
        </p:nvSpPr>
        <p:spPr>
          <a:xfrm xmlns:a="http://schemas.openxmlformats.org/drawingml/2006/main">
            <a:off x="800100" y="2105025"/>
            <a:ext cx="1685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Example: aspirin</a:t>
            </a:r>
          </a:p>
        </p:txBody>
      </p:sp>
      <p:sp>
        <p:nvSpPr>
          <p:cNvPr id="7" name="">
            <a:extLst xmlns:a="http://schemas.openxmlformats.org/drawingml/2006/main">
              <a:ext uri="{FF2B5EF4-FFF2-40B4-BE49-F238E27FC236}">
                <a16:creationId xmlns:a16="http://schemas.microsoft.com/office/drawing/2014/main" id="{8FC805E1-D162-4520-B0F5-A652D7C1ED28}"/>
              </a:ext>
            </a:extLst>
          </p:cNvPr>
          <p:cNvSpPr>
            <a:spLocks xmlns:a="http://schemas.openxmlformats.org/drawingml/2006/main" noGrp="1"/>
          </p:cNvSpPr>
          <p:nvPr/>
        </p:nvSpPr>
        <p:spPr>
          <a:xfrm xmlns:a="http://schemas.openxmlformats.org/drawingml/2006/main">
            <a:off x="2857500" y="2238375"/>
            <a:ext cx="523875" cy="2667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8" name="">
            <a:extLst xmlns:a="http://schemas.openxmlformats.org/drawingml/2006/main">
              <a:ext uri="{FF2B5EF4-FFF2-40B4-BE49-F238E27FC236}">
                <a16:creationId xmlns:a16="http://schemas.microsoft.com/office/drawing/2014/main" id="{5A908989-1DE9-42E6-9B2C-C1D628D70CDA}"/>
              </a:ext>
            </a:extLst>
          </p:cNvPr>
          <p:cNvSpPr>
            <a:spLocks xmlns:a="http://schemas.openxmlformats.org/drawingml/2006/main" noGrp="1"/>
          </p:cNvSpPr>
          <p:nvPr/>
        </p:nvSpPr>
        <p:spPr>
          <a:xfrm xmlns:a="http://schemas.openxmlformats.org/drawingml/2006/main">
            <a:off x="3619500" y="1666875"/>
            <a:ext cx="1952625"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155E75"/>
            </a:solidFill>
          </a:ln>
        </p:spPr>
      </p:sp>
      <p:sp>
        <p:nvSpPr>
          <p:cNvPr id="9" name="">
            <a:extLst xmlns:a="http://schemas.openxmlformats.org/drawingml/2006/main">
              <a:ext uri="{FF2B5EF4-FFF2-40B4-BE49-F238E27FC236}">
                <a16:creationId xmlns:a16="http://schemas.microsoft.com/office/drawing/2014/main" id="{329FCDEB-4AE1-4C6C-918C-9057213468FF}"/>
              </a:ext>
            </a:extLst>
          </p:cNvPr>
          <p:cNvSpPr>
            <a:spLocks xmlns:a="http://schemas.openxmlformats.org/drawingml/2006/main" noGrp="1"/>
          </p:cNvSpPr>
          <p:nvPr/>
        </p:nvSpPr>
        <p:spPr>
          <a:xfrm xmlns:a="http://schemas.openxmlformats.org/drawingml/2006/main">
            <a:off x="3752850" y="1781175"/>
            <a:ext cx="1685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2. Calculate features</a:t>
            </a:r>
          </a:p>
        </p:txBody>
      </p:sp>
      <p:sp>
        <p:nvSpPr>
          <p:cNvPr id="10" name="">
            <a:extLst xmlns:a="http://schemas.openxmlformats.org/drawingml/2006/main">
              <a:ext uri="{FF2B5EF4-FFF2-40B4-BE49-F238E27FC236}">
                <a16:creationId xmlns:a16="http://schemas.microsoft.com/office/drawing/2014/main" id="{1AA940CD-F087-4D8F-B735-E27107B230EF}"/>
              </a:ext>
            </a:extLst>
          </p:cNvPr>
          <p:cNvSpPr>
            <a:spLocks xmlns:a="http://schemas.openxmlformats.org/drawingml/2006/main" noGrp="1"/>
          </p:cNvSpPr>
          <p:nvPr/>
        </p:nvSpPr>
        <p:spPr>
          <a:xfrm xmlns:a="http://schemas.openxmlformats.org/drawingml/2006/main">
            <a:off x="3752850" y="2105025"/>
            <a:ext cx="1685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Fingerprint and descriptors</a:t>
            </a:r>
          </a:p>
        </p:txBody>
      </p:sp>
      <p:sp>
        <p:nvSpPr>
          <p:cNvPr id="11" name="">
            <a:extLst xmlns:a="http://schemas.openxmlformats.org/drawingml/2006/main">
              <a:ext uri="{FF2B5EF4-FFF2-40B4-BE49-F238E27FC236}">
                <a16:creationId xmlns:a16="http://schemas.microsoft.com/office/drawing/2014/main" id="{1BA21679-CBA6-4E27-A450-C209EE967DB7}"/>
              </a:ext>
            </a:extLst>
          </p:cNvPr>
          <p:cNvSpPr>
            <a:spLocks xmlns:a="http://schemas.openxmlformats.org/drawingml/2006/main" noGrp="1"/>
          </p:cNvSpPr>
          <p:nvPr/>
        </p:nvSpPr>
        <p:spPr>
          <a:xfrm xmlns:a="http://schemas.openxmlformats.org/drawingml/2006/main">
            <a:off x="5810250" y="2238375"/>
            <a:ext cx="523875" cy="2667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2" name="">
            <a:extLst xmlns:a="http://schemas.openxmlformats.org/drawingml/2006/main">
              <a:ext uri="{FF2B5EF4-FFF2-40B4-BE49-F238E27FC236}">
                <a16:creationId xmlns:a16="http://schemas.microsoft.com/office/drawing/2014/main" id="{CD380922-696B-49E1-97B6-D3E77733C6ED}"/>
              </a:ext>
            </a:extLst>
          </p:cNvPr>
          <p:cNvSpPr>
            <a:spLocks xmlns:a="http://schemas.openxmlformats.org/drawingml/2006/main" noGrp="1"/>
          </p:cNvSpPr>
          <p:nvPr/>
        </p:nvSpPr>
        <p:spPr>
          <a:xfrm xmlns:a="http://schemas.openxmlformats.org/drawingml/2006/main">
            <a:off x="6572250" y="1666875"/>
            <a:ext cx="1952625" cy="1381125"/>
          </a:xfrm>
          <a:prstGeom xmlns:a="http://schemas.openxmlformats.org/drawingml/2006/main" prst="roundRect">
            <a:avLst>
              <a:gd name="adj" fmla="val 5517"/>
            </a:avLst>
          </a:prstGeom>
          <a:solidFill xmlns:a="http://schemas.openxmlformats.org/drawingml/2006/main">
            <a:srgbClr val="DFF7F2"/>
          </a:solidFill>
          <a:ln xmlns:a="http://schemas.openxmlformats.org/drawingml/2006/main" w="9525">
            <a:solidFill>
              <a:srgbClr val="155E75"/>
            </a:solidFill>
          </a:ln>
        </p:spPr>
      </p:sp>
      <p:sp>
        <p:nvSpPr>
          <p:cNvPr id="13" name="">
            <a:extLst xmlns:a="http://schemas.openxmlformats.org/drawingml/2006/main">
              <a:ext uri="{FF2B5EF4-FFF2-40B4-BE49-F238E27FC236}">
                <a16:creationId xmlns:a16="http://schemas.microsoft.com/office/drawing/2014/main" id="{8C8DBE80-4FFB-484E-AB32-C3C87BF5EC18}"/>
              </a:ext>
            </a:extLst>
          </p:cNvPr>
          <p:cNvSpPr>
            <a:spLocks xmlns:a="http://schemas.openxmlformats.org/drawingml/2006/main" noGrp="1"/>
          </p:cNvSpPr>
          <p:nvPr/>
        </p:nvSpPr>
        <p:spPr>
          <a:xfrm xmlns:a="http://schemas.openxmlformats.org/drawingml/2006/main">
            <a:off x="6705600" y="1781175"/>
            <a:ext cx="1685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3. Predict</a:t>
            </a:r>
          </a:p>
        </p:txBody>
      </p:sp>
      <p:sp>
        <p:nvSpPr>
          <p:cNvPr id="14" name="">
            <a:extLst xmlns:a="http://schemas.openxmlformats.org/drawingml/2006/main">
              <a:ext uri="{FF2B5EF4-FFF2-40B4-BE49-F238E27FC236}">
                <a16:creationId xmlns:a16="http://schemas.microsoft.com/office/drawing/2014/main" id="{923B763B-AEB3-46E8-A720-46A572850AC5}"/>
              </a:ext>
            </a:extLst>
          </p:cNvPr>
          <p:cNvSpPr>
            <a:spLocks xmlns:a="http://schemas.openxmlformats.org/drawingml/2006/main" noGrp="1"/>
          </p:cNvSpPr>
          <p:nvPr/>
        </p:nvSpPr>
        <p:spPr>
          <a:xfrm xmlns:a="http://schemas.openxmlformats.org/drawingml/2006/main">
            <a:off x="6705600" y="2105025"/>
            <a:ext cx="1685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Load saved scaffold model</a:t>
            </a:r>
          </a:p>
        </p:txBody>
      </p:sp>
      <p:sp>
        <p:nvSpPr>
          <p:cNvPr id="15" name="">
            <a:extLst xmlns:a="http://schemas.openxmlformats.org/drawingml/2006/main">
              <a:ext uri="{FF2B5EF4-FFF2-40B4-BE49-F238E27FC236}">
                <a16:creationId xmlns:a16="http://schemas.microsoft.com/office/drawing/2014/main" id="{C68D0200-16B5-4EB6-BB87-C19D35905246}"/>
              </a:ext>
            </a:extLst>
          </p:cNvPr>
          <p:cNvSpPr>
            <a:spLocks xmlns:a="http://schemas.openxmlformats.org/drawingml/2006/main" noGrp="1"/>
          </p:cNvSpPr>
          <p:nvPr/>
        </p:nvSpPr>
        <p:spPr>
          <a:xfrm xmlns:a="http://schemas.openxmlformats.org/drawingml/2006/main">
            <a:off x="8763000" y="2238375"/>
            <a:ext cx="523875" cy="2667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6" name="">
            <a:extLst xmlns:a="http://schemas.openxmlformats.org/drawingml/2006/main">
              <a:ext uri="{FF2B5EF4-FFF2-40B4-BE49-F238E27FC236}">
                <a16:creationId xmlns:a16="http://schemas.microsoft.com/office/drawing/2014/main" id="{202D66B7-29F2-4401-B453-9E6108B950DB}"/>
              </a:ext>
            </a:extLst>
          </p:cNvPr>
          <p:cNvSpPr>
            <a:spLocks xmlns:a="http://schemas.openxmlformats.org/drawingml/2006/main" noGrp="1"/>
          </p:cNvSpPr>
          <p:nvPr/>
        </p:nvSpPr>
        <p:spPr>
          <a:xfrm xmlns:a="http://schemas.openxmlformats.org/drawingml/2006/main">
            <a:off x="9525000" y="1666875"/>
            <a:ext cx="1952625"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155E75"/>
            </a:solidFill>
          </a:ln>
        </p:spPr>
      </p:sp>
      <p:sp>
        <p:nvSpPr>
          <p:cNvPr id="17" name="">
            <a:extLst xmlns:a="http://schemas.openxmlformats.org/drawingml/2006/main">
              <a:ext uri="{FF2B5EF4-FFF2-40B4-BE49-F238E27FC236}">
                <a16:creationId xmlns:a16="http://schemas.microsoft.com/office/drawing/2014/main" id="{F2473B17-26F2-4B23-9655-50F23D238FA1}"/>
              </a:ext>
            </a:extLst>
          </p:cNvPr>
          <p:cNvSpPr>
            <a:spLocks xmlns:a="http://schemas.openxmlformats.org/drawingml/2006/main" noGrp="1"/>
          </p:cNvSpPr>
          <p:nvPr/>
        </p:nvSpPr>
        <p:spPr>
          <a:xfrm xmlns:a="http://schemas.openxmlformats.org/drawingml/2006/main">
            <a:off x="9658350" y="1781175"/>
            <a:ext cx="16859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071F33"/>
                </a:solidFill>
                <a:latin typeface="Helvetica Neue"/>
                <a:ea typeface="Helvetica Neue"/>
                <a:cs typeface="Helvetica Neue"/>
              </a:defRPr>
            </a:pPr>
            <a:r>
              <a:rPr sz="1425" b="1">
                <a:solidFill>
                  <a:srgbClr val="071F33"/>
                </a:solidFill>
                <a:latin typeface="Helvetica Neue"/>
                <a:ea typeface="Helvetica Neue"/>
                <a:cs typeface="Helvetica Neue"/>
              </a:rPr>
              <a:t>4. Explain output</a:t>
            </a:r>
          </a:p>
        </p:txBody>
      </p:sp>
      <p:sp>
        <p:nvSpPr>
          <p:cNvPr id="18" name="">
            <a:extLst xmlns:a="http://schemas.openxmlformats.org/drawingml/2006/main">
              <a:ext uri="{FF2B5EF4-FFF2-40B4-BE49-F238E27FC236}">
                <a16:creationId xmlns:a16="http://schemas.microsoft.com/office/drawing/2014/main" id="{E520499F-DF86-42C1-930D-9779C37942BD}"/>
              </a:ext>
            </a:extLst>
          </p:cNvPr>
          <p:cNvSpPr>
            <a:spLocks xmlns:a="http://schemas.openxmlformats.org/drawingml/2006/main" noGrp="1"/>
          </p:cNvSpPr>
          <p:nvPr/>
        </p:nvSpPr>
        <p:spPr>
          <a:xfrm xmlns:a="http://schemas.openxmlformats.org/drawingml/2006/main">
            <a:off x="9658350" y="2105025"/>
            <a:ext cx="16859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12 probabilities and similarity</a:t>
            </a:r>
          </a:p>
        </p:txBody>
      </p:sp>
      <p:graphicFrame>
        <p:nvGraphicFramePr>
          <p:cNvPr id="42" name="Chart"/>
          <p:cNvGraphicFramePr/>
          <p:nvPr/>
        </p:nvGraphicFramePr>
        <p:xfrm>
          <a:off xmlns:a="http://schemas.openxmlformats.org/drawingml/2006/main" x="1428750" y="3667125"/>
          <a:ext xmlns:a="http://schemas.openxmlformats.org/drawingml/2006/main" cx="6381750" cy="2238375"/>
        </p:xfrm>
        <a:graphic xmlns:a="http://schemas.openxmlformats.org/drawingml/2006/main">
          <a:graphicData uri="http://schemas.openxmlformats.org/drawingml/2006/chart">
            <c:chart xmlns:r="http://schemas.openxmlformats.org/officeDocument/2006/relationships" xmlns:c="http://schemas.openxmlformats.org/drawingml/2006/chart" r:id="Rfa5d1f715f454d24"/>
          </a:graphicData>
        </a:graphic>
      </p:graphicFrame>
      <p:sp>
        <p:nvSpPr>
          <p:cNvPr id="20" name="">
            <a:extLst xmlns:a="http://schemas.openxmlformats.org/drawingml/2006/main">
              <a:ext uri="{FF2B5EF4-FFF2-40B4-BE49-F238E27FC236}">
                <a16:creationId xmlns:a16="http://schemas.microsoft.com/office/drawing/2014/main" id="{AD32F984-46AA-46E5-8B00-7D82C6B91E09}"/>
              </a:ext>
            </a:extLst>
          </p:cNvPr>
          <p:cNvSpPr>
            <a:spLocks xmlns:a="http://schemas.openxmlformats.org/drawingml/2006/main" noGrp="1"/>
          </p:cNvSpPr>
          <p:nvPr/>
        </p:nvSpPr>
        <p:spPr>
          <a:xfrm xmlns:a="http://schemas.openxmlformats.org/drawingml/2006/main">
            <a:off x="8572500" y="381000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071F33"/>
                </a:solidFill>
                <a:latin typeface="Helvetica Neue"/>
                <a:ea typeface="Helvetica Neue"/>
                <a:cs typeface="Helvetica Neue"/>
              </a:defRPr>
            </a:pPr>
            <a:r>
              <a:rPr sz="1725" b="1">
                <a:solidFill>
                  <a:srgbClr val="071F33"/>
                </a:solidFill>
                <a:latin typeface="Helvetica Neue"/>
                <a:ea typeface="Helvetica Neue"/>
                <a:cs typeface="Helvetica Neue"/>
              </a:rPr>
              <a:t>Example run</a:t>
            </a:r>
          </a:p>
        </p:txBody>
      </p:sp>
      <p:sp>
        <p:nvSpPr>
          <p:cNvPr id="21" name="">
            <a:extLst xmlns:a="http://schemas.openxmlformats.org/drawingml/2006/main">
              <a:ext uri="{FF2B5EF4-FFF2-40B4-BE49-F238E27FC236}">
                <a16:creationId xmlns:a16="http://schemas.microsoft.com/office/drawing/2014/main" id="{EFCB1C6D-CBCF-476F-945C-5D3C1208D6D5}"/>
              </a:ext>
            </a:extLst>
          </p:cNvPr>
          <p:cNvSpPr>
            <a:spLocks xmlns:a="http://schemas.openxmlformats.org/drawingml/2006/main" noGrp="1"/>
          </p:cNvSpPr>
          <p:nvPr/>
        </p:nvSpPr>
        <p:spPr>
          <a:xfrm xmlns:a="http://schemas.openxmlformats.org/drawingml/2006/main">
            <a:off x="8572500" y="4333875"/>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0">
                <a:solidFill>
                  <a:srgbClr val="155E75"/>
                </a:solidFill>
                <a:latin typeface="Helvetica Neue"/>
                <a:ea typeface="Helvetica Neue"/>
                <a:cs typeface="Helvetica Neue"/>
              </a:defRPr>
            </a:pPr>
            <a:r>
              <a:rPr sz="1575" b="0">
                <a:solidFill>
                  <a:srgbClr val="155E75"/>
                </a:solidFill>
                <a:latin typeface="Helvetica Neue"/>
                <a:ea typeface="Helvetica Neue"/>
                <a:cs typeface="Helvetica Neue"/>
              </a:rPr>
              <a:t>Nearest training similarity</a:t>
            </a:r>
          </a:p>
          <a:p xmlns:a="http://schemas.openxmlformats.org/drawingml/2006/main">
            <a:pPr algn="ctr">
              <a:defRPr sz="1575" b="0">
                <a:solidFill>
                  <a:srgbClr val="155E75"/>
                </a:solidFill>
                <a:latin typeface="Helvetica Neue"/>
                <a:ea typeface="Helvetica Neue"/>
                <a:cs typeface="Helvetica Neue"/>
              </a:defRPr>
            </a:pPr>
            <a:r>
              <a:rPr sz="1575" b="0">
                <a:solidFill>
                  <a:srgbClr val="155E75"/>
                </a:solidFill>
                <a:latin typeface="Helvetica Neue"/>
                <a:ea typeface="Helvetica Neue"/>
                <a:cs typeface="Helvetica Neue"/>
              </a:rPr>
              <a:t>1.00</a:t>
            </a:r>
          </a:p>
        </p:txBody>
      </p:sp>
      <p:sp>
        <p:nvSpPr>
          <p:cNvPr id="22" name="">
            <a:extLst xmlns:a="http://schemas.openxmlformats.org/drawingml/2006/main">
              <a:ext uri="{FF2B5EF4-FFF2-40B4-BE49-F238E27FC236}">
                <a16:creationId xmlns:a16="http://schemas.microsoft.com/office/drawing/2014/main" id="{2A2BE55D-E654-4AFE-B099-273276C7F46B}"/>
              </a:ext>
            </a:extLst>
          </p:cNvPr>
          <p:cNvSpPr>
            <a:spLocks xmlns:a="http://schemas.openxmlformats.org/drawingml/2006/main" noGrp="1"/>
          </p:cNvSpPr>
          <p:nvPr/>
        </p:nvSpPr>
        <p:spPr>
          <a:xfrm xmlns:a="http://schemas.openxmlformats.org/drawingml/2006/main">
            <a:off x="8239125" y="5381625"/>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C2413A"/>
                </a:solidFill>
                <a:latin typeface="Helvetica Neue"/>
                <a:ea typeface="Helvetica Neue"/>
                <a:cs typeface="Helvetica Neue"/>
              </a:defRPr>
            </a:pPr>
            <a:r>
              <a:rPr sz="1425" b="1">
                <a:solidFill>
                  <a:srgbClr val="C2413A"/>
                </a:solidFill>
                <a:latin typeface="Helvetica Neue"/>
                <a:ea typeface="Helvetica Neue"/>
                <a:cs typeface="Helvetica Neue"/>
              </a:rPr>
              <a:t>Assay activity does not equal clinical toxicity.</a:t>
            </a:r>
          </a:p>
        </p:txBody>
      </p:sp>
      <p:sp>
        <p:nvSpPr>
          <p:cNvPr id="23" name="">
            <a:extLst xmlns:a="http://schemas.openxmlformats.org/drawingml/2006/main">
              <a:ext uri="{FF2B5EF4-FFF2-40B4-BE49-F238E27FC236}">
                <a16:creationId xmlns:a16="http://schemas.microsoft.com/office/drawing/2014/main" id="{9C1F9EB3-D597-45A2-9E1C-8B5788104390}"/>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561535927"/>
      </p:ext>
    </p:extLst>
  </p:cSld>
</p:sld>
</file>

<file path=ppt/slides/slide14.xml><?xml version="1.0" encoding="utf-8"?>
<p:sld xmlns:p="http://schemas.openxmlformats.org/presentationml/2006/main">
  <p:cSld>
    <p:bg>
      <p:bgPr>
        <a:solidFill xmlns:a="http://schemas.openxmlformats.org/drawingml/2006/main">
          <a:srgbClr val="071F3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C1948F2-9E7E-4E76-9F85-88E28AB06151}"/>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Conclusion and limitations</a:t>
            </a:r>
          </a:p>
        </p:txBody>
      </p:sp>
      <p:sp>
        <p:nvSpPr>
          <p:cNvPr id="2" name="">
            <a:extLst xmlns:a="http://schemas.openxmlformats.org/drawingml/2006/main">
              <a:ext uri="{FF2B5EF4-FFF2-40B4-BE49-F238E27FC236}">
                <a16:creationId xmlns:a16="http://schemas.microsoft.com/office/drawing/2014/main" id="{1BDEA037-6EBC-4945-8164-501414850918}"/>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38BDF8"/>
                </a:solidFill>
                <a:latin typeface="Helvetica Neue"/>
                <a:ea typeface="Helvetica Neue"/>
                <a:cs typeface="Helvetica Neue"/>
              </a:defRPr>
            </a:pPr>
            <a:r>
              <a:rPr sz="1200" b="1">
                <a:solidFill>
                  <a:srgbClr val="38BDF8"/>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C5ED70FF-7CEE-40D7-91A7-A14E02B9D54A}"/>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38BDF8"/>
          </a:solidFill>
          <a:ln xmlns:a="http://schemas.openxmlformats.org/drawingml/2006/main" w="9525">
            <a:solidFill>
              <a:srgbClr val="38BDF8"/>
            </a:solidFill>
          </a:ln>
        </p:spPr>
      </p:sp>
      <p:sp>
        <p:nvSpPr>
          <p:cNvPr id="4" name="">
            <a:extLst xmlns:a="http://schemas.openxmlformats.org/drawingml/2006/main">
              <a:ext uri="{FF2B5EF4-FFF2-40B4-BE49-F238E27FC236}">
                <a16:creationId xmlns:a16="http://schemas.microsoft.com/office/drawing/2014/main" id="{D8A64740-0EA6-4A06-BC6C-52736E39D096}"/>
              </a:ext>
            </a:extLst>
          </p:cNvPr>
          <p:cNvSpPr>
            <a:spLocks xmlns:a="http://schemas.openxmlformats.org/drawingml/2006/main" noGrp="1"/>
          </p:cNvSpPr>
          <p:nvPr/>
        </p:nvSpPr>
        <p:spPr>
          <a:xfrm xmlns:a="http://schemas.openxmlformats.org/drawingml/2006/main">
            <a:off x="685800" y="13811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8BDF8"/>
                </a:solidFill>
                <a:latin typeface="Helvetica Neue"/>
                <a:ea typeface="Helvetica Neue"/>
                <a:cs typeface="Helvetica Neue"/>
              </a:defRPr>
            </a:pPr>
            <a:r>
              <a:rPr sz="1800" b="1">
                <a:solidFill>
                  <a:srgbClr val="38BDF8"/>
                </a:solidFill>
                <a:latin typeface="Helvetica Neue"/>
                <a:ea typeface="Helvetica Neue"/>
                <a:cs typeface="Helvetica Neue"/>
              </a:rPr>
              <a:t>Conclusion</a:t>
            </a:r>
          </a:p>
        </p:txBody>
      </p:sp>
      <p:sp>
        <p:nvSpPr>
          <p:cNvPr id="5" name="">
            <a:extLst xmlns:a="http://schemas.openxmlformats.org/drawingml/2006/main">
              <a:ext uri="{FF2B5EF4-FFF2-40B4-BE49-F238E27FC236}">
                <a16:creationId xmlns:a16="http://schemas.microsoft.com/office/drawing/2014/main" id="{5CE6F1CE-DA70-44D5-8ABA-9F326486B400}"/>
              </a:ext>
            </a:extLst>
          </p:cNvPr>
          <p:cNvSpPr>
            <a:spLocks xmlns:a="http://schemas.openxmlformats.org/drawingml/2006/main" noGrp="1"/>
          </p:cNvSpPr>
          <p:nvPr/>
        </p:nvSpPr>
        <p:spPr>
          <a:xfrm xmlns:a="http://schemas.openxmlformats.org/drawingml/2006/main">
            <a:off x="685800" y="1857375"/>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A shared model predicted 12 Tox21 assays and improved average scaffold-test performance over the single-task baseline.</a:t>
            </a:r>
          </a:p>
        </p:txBody>
      </p:sp>
      <p:sp>
        <p:nvSpPr>
          <p:cNvPr id="6" name="">
            <a:extLst xmlns:a="http://schemas.openxmlformats.org/drawingml/2006/main">
              <a:ext uri="{FF2B5EF4-FFF2-40B4-BE49-F238E27FC236}">
                <a16:creationId xmlns:a16="http://schemas.microsoft.com/office/drawing/2014/main" id="{38AB5942-BBCC-4CE6-8CA2-7225436E62C7}"/>
              </a:ext>
            </a:extLst>
          </p:cNvPr>
          <p:cNvSpPr>
            <a:spLocks xmlns:a="http://schemas.openxmlformats.org/drawingml/2006/main" noGrp="1"/>
          </p:cNvSpPr>
          <p:nvPr/>
        </p:nvSpPr>
        <p:spPr>
          <a:xfrm xmlns:a="http://schemas.openxmlformats.org/drawingml/2006/main">
            <a:off x="6096000" y="1381125"/>
            <a:ext cx="38100" cy="4095750"/>
          </a:xfrm>
          <a:prstGeom xmlns:a="http://schemas.openxmlformats.org/drawingml/2006/main" prst="rect">
            <a:avLst/>
          </a:prstGeom>
          <a:solidFill xmlns:a="http://schemas.openxmlformats.org/drawingml/2006/main">
            <a:srgbClr val="375365"/>
          </a:solidFill>
          <a:ln xmlns:a="http://schemas.openxmlformats.org/drawingml/2006/main" w="9525">
            <a:solidFill>
              <a:srgbClr val="375365"/>
            </a:solidFill>
          </a:ln>
        </p:spPr>
      </p:sp>
      <p:sp>
        <p:nvSpPr>
          <p:cNvPr id="7" name="">
            <a:extLst xmlns:a="http://schemas.openxmlformats.org/drawingml/2006/main">
              <a:ext uri="{FF2B5EF4-FFF2-40B4-BE49-F238E27FC236}">
                <a16:creationId xmlns:a16="http://schemas.microsoft.com/office/drawing/2014/main" id="{E42F4D13-74B1-4DDA-88E5-F494425FFB92}"/>
              </a:ext>
            </a:extLst>
          </p:cNvPr>
          <p:cNvSpPr>
            <a:spLocks xmlns:a="http://schemas.openxmlformats.org/drawingml/2006/main" noGrp="1"/>
          </p:cNvSpPr>
          <p:nvPr/>
        </p:nvSpPr>
        <p:spPr>
          <a:xfrm xmlns:a="http://schemas.openxmlformats.org/drawingml/2006/main">
            <a:off x="6667500" y="13811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8BDF8"/>
                </a:solidFill>
                <a:latin typeface="Helvetica Neue"/>
                <a:ea typeface="Helvetica Neue"/>
                <a:cs typeface="Helvetica Neue"/>
              </a:defRPr>
            </a:pPr>
            <a:r>
              <a:rPr sz="1800" b="1">
                <a:solidFill>
                  <a:srgbClr val="38BDF8"/>
                </a:solidFill>
                <a:latin typeface="Helvetica Neue"/>
                <a:ea typeface="Helvetica Neue"/>
                <a:cs typeface="Helvetica Neue"/>
              </a:rPr>
              <a:t>Limitations</a:t>
            </a:r>
          </a:p>
        </p:txBody>
      </p:sp>
      <p:sp>
        <p:nvSpPr>
          <p:cNvPr id="8" name="">
            <a:extLst xmlns:a="http://schemas.openxmlformats.org/drawingml/2006/main">
              <a:ext uri="{FF2B5EF4-FFF2-40B4-BE49-F238E27FC236}">
                <a16:creationId xmlns:a16="http://schemas.microsoft.com/office/drawing/2014/main" id="{281CBFC9-7645-4FE1-986D-876D386770A6}"/>
              </a:ext>
            </a:extLst>
          </p:cNvPr>
          <p:cNvSpPr>
            <a:spLocks xmlns:a="http://schemas.openxmlformats.org/drawingml/2006/main" noGrp="1"/>
          </p:cNvSpPr>
          <p:nvPr/>
        </p:nvSpPr>
        <p:spPr>
          <a:xfrm xmlns:a="http://schemas.openxmlformats.org/drawingml/2006/main">
            <a:off x="6667500" y="1952625"/>
            <a:ext cx="46672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In-vitro pathway assays are not human toxicity outcomes</a:t>
            </a:r>
          </a:p>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Sparse and imbalanced labels limit some tasks</a:t>
            </a:r>
          </a:p>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Only 2D structure information is used</a:t>
            </a:r>
          </a:p>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One dataset and split require external validation</a:t>
            </a:r>
          </a:p>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Similarity warning is not calibrated uncertainty</a:t>
            </a:r>
          </a:p>
        </p:txBody>
      </p:sp>
      <p:sp>
        <p:nvSpPr>
          <p:cNvPr id="9" name="">
            <a:extLst xmlns:a="http://schemas.openxmlformats.org/drawingml/2006/main">
              <a:ext uri="{FF2B5EF4-FFF2-40B4-BE49-F238E27FC236}">
                <a16:creationId xmlns:a16="http://schemas.microsoft.com/office/drawing/2014/main" id="{1E11791A-834A-4394-9A55-75781D43208D}"/>
              </a:ext>
            </a:extLst>
          </p:cNvPr>
          <p:cNvSpPr>
            <a:spLocks xmlns:a="http://schemas.openxmlformats.org/drawingml/2006/main" noGrp="1"/>
          </p:cNvSpPr>
          <p:nvPr/>
        </p:nvSpPr>
        <p:spPr>
          <a:xfrm xmlns:a="http://schemas.openxmlformats.org/drawingml/2006/main">
            <a:off x="1285875" y="5619750"/>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38BDF8"/>
                </a:solidFill>
                <a:latin typeface="Helvetica Neue"/>
                <a:ea typeface="Helvetica Neue"/>
                <a:cs typeface="Helvetica Neue"/>
              </a:defRPr>
            </a:pPr>
            <a:r>
              <a:rPr sz="1725" b="1">
                <a:solidFill>
                  <a:srgbClr val="38BDF8"/>
                </a:solidFill>
                <a:latin typeface="Helvetica Neue"/>
                <a:ea typeface="Helvetica Neue"/>
                <a:cs typeface="Helvetica Neue"/>
              </a:rPr>
              <a:t>Next step: external validation and uncertainty calibration before practical safety use.</a:t>
            </a:r>
          </a:p>
        </p:txBody>
      </p:sp>
      <p:sp>
        <p:nvSpPr>
          <p:cNvPr id="10" name="">
            <a:extLst xmlns:a="http://schemas.openxmlformats.org/drawingml/2006/main">
              <a:ext uri="{FF2B5EF4-FFF2-40B4-BE49-F238E27FC236}">
                <a16:creationId xmlns:a16="http://schemas.microsoft.com/office/drawing/2014/main" id="{08E2F680-7614-4058-92F5-3DBD3886C790}"/>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B6C8D5"/>
                </a:solidFill>
                <a:latin typeface="Helvetica Neue"/>
                <a:ea typeface="Helvetica Neue"/>
                <a:cs typeface="Helvetica Neue"/>
              </a:defRPr>
            </a:pPr>
            <a:r>
              <a:rPr sz="825" b="0">
                <a:solidFill>
                  <a:srgbClr val="B6C8D5"/>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73903207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0F63452-B35D-4B2E-BB49-7456F101088E}"/>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References</a:t>
            </a:r>
          </a:p>
        </p:txBody>
      </p:sp>
      <p:sp>
        <p:nvSpPr>
          <p:cNvPr id="2" name="">
            <a:extLst xmlns:a="http://schemas.openxmlformats.org/drawingml/2006/main">
              <a:ext uri="{FF2B5EF4-FFF2-40B4-BE49-F238E27FC236}">
                <a16:creationId xmlns:a16="http://schemas.microsoft.com/office/drawing/2014/main" id="{8D6D9428-3456-4A4D-81B3-DCD346BB729B}"/>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53A18603-B0EC-4675-B183-95194FE60DB7}"/>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6CD3DFBE-7EE5-4280-8A40-A493FA787AFF}"/>
              </a:ext>
            </a:extLst>
          </p:cNvPr>
          <p:cNvSpPr>
            <a:spLocks xmlns:a="http://schemas.openxmlformats.org/drawingml/2006/main" noGrp="1"/>
          </p:cNvSpPr>
          <p:nvPr/>
        </p:nvSpPr>
        <p:spPr>
          <a:xfrm xmlns:a="http://schemas.openxmlformats.org/drawingml/2006/main">
            <a:off x="762000" y="13811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D70D0DFB-9223-4D51-A83F-E0DDB461CD2A}"/>
              </a:ext>
            </a:extLst>
          </p:cNvPr>
          <p:cNvSpPr>
            <a:spLocks xmlns:a="http://schemas.openxmlformats.org/drawingml/2006/main" noGrp="1"/>
          </p:cNvSpPr>
          <p:nvPr/>
        </p:nvSpPr>
        <p:spPr>
          <a:xfrm xmlns:a="http://schemas.openxmlformats.org/drawingml/2006/main">
            <a:off x="1285875" y="138112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Huang, R. et al. (2016). Tox21Challenge to Build Predictive Models of Nuclear Receptor and Stress Response Pathways. Frontiers in Environmental Science, 3:85.</a:t>
            </a:r>
          </a:p>
        </p:txBody>
      </p:sp>
      <p:sp>
        <p:nvSpPr>
          <p:cNvPr id="6" name="">
            <a:extLst xmlns:a="http://schemas.openxmlformats.org/drawingml/2006/main">
              <a:ext uri="{FF2B5EF4-FFF2-40B4-BE49-F238E27FC236}">
                <a16:creationId xmlns:a16="http://schemas.microsoft.com/office/drawing/2014/main" id="{0BAC14CC-87D4-484A-AFEC-FBF3B843480C}"/>
              </a:ext>
            </a:extLst>
          </p:cNvPr>
          <p:cNvSpPr>
            <a:spLocks xmlns:a="http://schemas.openxmlformats.org/drawingml/2006/main" noGrp="1"/>
          </p:cNvSpPr>
          <p:nvPr/>
        </p:nvSpPr>
        <p:spPr>
          <a:xfrm xmlns:a="http://schemas.openxmlformats.org/drawingml/2006/main">
            <a:off x="762000" y="21240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[2]</a:t>
            </a:r>
          </a:p>
        </p:txBody>
      </p:sp>
      <p:sp>
        <p:nvSpPr>
          <p:cNvPr id="7" name="">
            <a:extLst xmlns:a="http://schemas.openxmlformats.org/drawingml/2006/main">
              <a:ext uri="{FF2B5EF4-FFF2-40B4-BE49-F238E27FC236}">
                <a16:creationId xmlns:a16="http://schemas.microsoft.com/office/drawing/2014/main" id="{D77913F7-780A-4350-871B-AD575792923B}"/>
              </a:ext>
            </a:extLst>
          </p:cNvPr>
          <p:cNvSpPr>
            <a:spLocks xmlns:a="http://schemas.openxmlformats.org/drawingml/2006/main" noGrp="1"/>
          </p:cNvSpPr>
          <p:nvPr/>
        </p:nvSpPr>
        <p:spPr>
          <a:xfrm xmlns:a="http://schemas.openxmlformats.org/drawingml/2006/main">
            <a:off x="1285875" y="21240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Wu, Z. et al. (2018). MoleculeNet: a benchmark for molecular machine learning. Chemical Science, 9, 513-530.</a:t>
            </a:r>
          </a:p>
        </p:txBody>
      </p:sp>
      <p:sp>
        <p:nvSpPr>
          <p:cNvPr id="8" name="">
            <a:extLst xmlns:a="http://schemas.openxmlformats.org/drawingml/2006/main">
              <a:ext uri="{FF2B5EF4-FFF2-40B4-BE49-F238E27FC236}">
                <a16:creationId xmlns:a16="http://schemas.microsoft.com/office/drawing/2014/main" id="{4D86EFB1-8043-4B3A-9B90-EE181532AA7C}"/>
              </a:ext>
            </a:extLst>
          </p:cNvPr>
          <p:cNvSpPr>
            <a:spLocks xmlns:a="http://schemas.openxmlformats.org/drawingml/2006/main" noGrp="1"/>
          </p:cNvSpPr>
          <p:nvPr/>
        </p:nvSpPr>
        <p:spPr>
          <a:xfrm xmlns:a="http://schemas.openxmlformats.org/drawingml/2006/main">
            <a:off x="762000" y="28670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[3]</a:t>
            </a:r>
          </a:p>
        </p:txBody>
      </p:sp>
      <p:sp>
        <p:nvSpPr>
          <p:cNvPr id="9" name="">
            <a:extLst xmlns:a="http://schemas.openxmlformats.org/drawingml/2006/main">
              <a:ext uri="{FF2B5EF4-FFF2-40B4-BE49-F238E27FC236}">
                <a16:creationId xmlns:a16="http://schemas.microsoft.com/office/drawing/2014/main" id="{D50C86B8-4F0E-4D60-8243-E44D409976A7}"/>
              </a:ext>
            </a:extLst>
          </p:cNvPr>
          <p:cNvSpPr>
            <a:spLocks xmlns:a="http://schemas.openxmlformats.org/drawingml/2006/main" noGrp="1"/>
          </p:cNvSpPr>
          <p:nvPr/>
        </p:nvSpPr>
        <p:spPr>
          <a:xfrm xmlns:a="http://schemas.openxmlformats.org/drawingml/2006/main">
            <a:off x="1285875" y="286702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Tox21 Data Challenge, National Institutes of Health. tripod.nih.gov/tox21/challenge/data.jsp</a:t>
            </a:r>
          </a:p>
        </p:txBody>
      </p:sp>
      <p:sp>
        <p:nvSpPr>
          <p:cNvPr id="10" name="">
            <a:extLst xmlns:a="http://schemas.openxmlformats.org/drawingml/2006/main">
              <a:ext uri="{FF2B5EF4-FFF2-40B4-BE49-F238E27FC236}">
                <a16:creationId xmlns:a16="http://schemas.microsoft.com/office/drawing/2014/main" id="{D3D4B964-D5C0-438C-B541-E24A3AE5ED40}"/>
              </a:ext>
            </a:extLst>
          </p:cNvPr>
          <p:cNvSpPr>
            <a:spLocks xmlns:a="http://schemas.openxmlformats.org/drawingml/2006/main" noGrp="1"/>
          </p:cNvSpPr>
          <p:nvPr/>
        </p:nvSpPr>
        <p:spPr>
          <a:xfrm xmlns:a="http://schemas.openxmlformats.org/drawingml/2006/main">
            <a:off x="762000" y="36099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[4]</a:t>
            </a:r>
          </a:p>
        </p:txBody>
      </p:sp>
      <p:sp>
        <p:nvSpPr>
          <p:cNvPr id="11" name="">
            <a:extLst xmlns:a="http://schemas.openxmlformats.org/drawingml/2006/main">
              <a:ext uri="{FF2B5EF4-FFF2-40B4-BE49-F238E27FC236}">
                <a16:creationId xmlns:a16="http://schemas.microsoft.com/office/drawing/2014/main" id="{58277529-07A4-4051-B469-4B7276AF0893}"/>
              </a:ext>
            </a:extLst>
          </p:cNvPr>
          <p:cNvSpPr>
            <a:spLocks xmlns:a="http://schemas.openxmlformats.org/drawingml/2006/main" noGrp="1"/>
          </p:cNvSpPr>
          <p:nvPr/>
        </p:nvSpPr>
        <p:spPr>
          <a:xfrm xmlns:a="http://schemas.openxmlformats.org/drawingml/2006/main">
            <a:off x="1285875" y="36099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RDKit: Open-source cheminformatics. rdkit.org</a:t>
            </a:r>
          </a:p>
        </p:txBody>
      </p:sp>
      <p:sp>
        <p:nvSpPr>
          <p:cNvPr id="12" name="">
            <a:extLst xmlns:a="http://schemas.openxmlformats.org/drawingml/2006/main">
              <a:ext uri="{FF2B5EF4-FFF2-40B4-BE49-F238E27FC236}">
                <a16:creationId xmlns:a16="http://schemas.microsoft.com/office/drawing/2014/main" id="{DB5527FF-D543-4977-9BBB-45E9093B2032}"/>
              </a:ext>
            </a:extLst>
          </p:cNvPr>
          <p:cNvSpPr>
            <a:spLocks xmlns:a="http://schemas.openxmlformats.org/drawingml/2006/main" noGrp="1"/>
          </p:cNvSpPr>
          <p:nvPr/>
        </p:nvSpPr>
        <p:spPr>
          <a:xfrm xmlns:a="http://schemas.openxmlformats.org/drawingml/2006/main">
            <a:off x="762000" y="43529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[5]</a:t>
            </a:r>
          </a:p>
        </p:txBody>
      </p:sp>
      <p:sp>
        <p:nvSpPr>
          <p:cNvPr id="13" name="">
            <a:extLst xmlns:a="http://schemas.openxmlformats.org/drawingml/2006/main">
              <a:ext uri="{FF2B5EF4-FFF2-40B4-BE49-F238E27FC236}">
                <a16:creationId xmlns:a16="http://schemas.microsoft.com/office/drawing/2014/main" id="{6FFA736B-6F84-4316-BE38-1ABDB8D6F3A8}"/>
              </a:ext>
            </a:extLst>
          </p:cNvPr>
          <p:cNvSpPr>
            <a:spLocks xmlns:a="http://schemas.openxmlformats.org/drawingml/2006/main" noGrp="1"/>
          </p:cNvSpPr>
          <p:nvPr/>
        </p:nvSpPr>
        <p:spPr>
          <a:xfrm xmlns:a="http://schemas.openxmlformats.org/drawingml/2006/main">
            <a:off x="1285875" y="435292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PyTorch documentation. pytorch.org</a:t>
            </a:r>
          </a:p>
        </p:txBody>
      </p:sp>
      <p:sp>
        <p:nvSpPr>
          <p:cNvPr id="14" name="">
            <a:extLst xmlns:a="http://schemas.openxmlformats.org/drawingml/2006/main">
              <a:ext uri="{FF2B5EF4-FFF2-40B4-BE49-F238E27FC236}">
                <a16:creationId xmlns:a16="http://schemas.microsoft.com/office/drawing/2014/main" id="{A4B235E1-AF5D-4E82-BEEF-CB00CC35E5FB}"/>
              </a:ext>
            </a:extLst>
          </p:cNvPr>
          <p:cNvSpPr>
            <a:spLocks xmlns:a="http://schemas.openxmlformats.org/drawingml/2006/main" noGrp="1"/>
          </p:cNvSpPr>
          <p:nvPr/>
        </p:nvSpPr>
        <p:spPr>
          <a:xfrm xmlns:a="http://schemas.openxmlformats.org/drawingml/2006/main">
            <a:off x="762000" y="5095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[6]</a:t>
            </a:r>
          </a:p>
        </p:txBody>
      </p:sp>
      <p:sp>
        <p:nvSpPr>
          <p:cNvPr id="15" name="">
            <a:extLst xmlns:a="http://schemas.openxmlformats.org/drawingml/2006/main">
              <a:ext uri="{FF2B5EF4-FFF2-40B4-BE49-F238E27FC236}">
                <a16:creationId xmlns:a16="http://schemas.microsoft.com/office/drawing/2014/main" id="{49F1DFB1-5A56-4489-8A53-601869960112}"/>
              </a:ext>
            </a:extLst>
          </p:cNvPr>
          <p:cNvSpPr>
            <a:spLocks xmlns:a="http://schemas.openxmlformats.org/drawingml/2006/main" noGrp="1"/>
          </p:cNvSpPr>
          <p:nvPr/>
        </p:nvSpPr>
        <p:spPr>
          <a:xfrm xmlns:a="http://schemas.openxmlformats.org/drawingml/2006/main">
            <a:off x="1285875" y="50958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Streamlit documentation. docs.streamlit.io</a:t>
            </a:r>
          </a:p>
        </p:txBody>
      </p:sp>
      <p:sp>
        <p:nvSpPr>
          <p:cNvPr id="16" name="">
            <a:extLst xmlns:a="http://schemas.openxmlformats.org/drawingml/2006/main">
              <a:ext uri="{FF2B5EF4-FFF2-40B4-BE49-F238E27FC236}">
                <a16:creationId xmlns:a16="http://schemas.microsoft.com/office/drawing/2014/main" id="{7D32AE24-29AC-48B4-B3AC-FDF8421A5C21}"/>
              </a:ext>
            </a:extLst>
          </p:cNvPr>
          <p:cNvSpPr>
            <a:spLocks xmlns:a="http://schemas.openxmlformats.org/drawingml/2006/main" noGrp="1"/>
          </p:cNvSpPr>
          <p:nvPr/>
        </p:nvSpPr>
        <p:spPr>
          <a:xfrm xmlns:a="http://schemas.openxmlformats.org/drawingml/2006/main">
            <a:off x="762000" y="59055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55E75"/>
                </a:solidFill>
                <a:latin typeface="Helvetica Neue"/>
                <a:ea typeface="Helvetica Neue"/>
                <a:cs typeface="Helvetica Neue"/>
              </a:defRPr>
            </a:pPr>
            <a:r>
              <a:rPr sz="1275" b="1">
                <a:solidFill>
                  <a:srgbClr val="155E75"/>
                </a:solidFill>
                <a:latin typeface="Helvetica Neue"/>
                <a:ea typeface="Helvetica Neue"/>
                <a:cs typeface="Helvetica Neue"/>
              </a:rPr>
              <a:t>Project data source</a:t>
            </a:r>
          </a:p>
        </p:txBody>
      </p:sp>
      <p:sp>
        <p:nvSpPr>
          <p:cNvPr id="17" name="">
            <a:extLst xmlns:a="http://schemas.openxmlformats.org/drawingml/2006/main">
              <a:ext uri="{FF2B5EF4-FFF2-40B4-BE49-F238E27FC236}">
                <a16:creationId xmlns:a16="http://schemas.microsoft.com/office/drawing/2014/main" id="{081C3758-1633-42EC-B8E2-15061C8852B0}"/>
              </a:ext>
            </a:extLst>
          </p:cNvPr>
          <p:cNvSpPr>
            <a:spLocks xmlns:a="http://schemas.openxmlformats.org/drawingml/2006/main" noGrp="1"/>
          </p:cNvSpPr>
          <p:nvPr/>
        </p:nvSpPr>
        <p:spPr>
          <a:xfrm xmlns:a="http://schemas.openxmlformats.org/drawingml/2006/main">
            <a:off x="2857500" y="59055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F7181"/>
                </a:solidFill>
                <a:latin typeface="Helvetica Neue"/>
                <a:ea typeface="Helvetica Neue"/>
                <a:cs typeface="Helvetica Neue"/>
              </a:defRPr>
            </a:pPr>
            <a:r>
              <a:rPr sz="1200" b="0">
                <a:solidFill>
                  <a:srgbClr val="5F7181"/>
                </a:solidFill>
                <a:latin typeface="Helvetica Neue"/>
                <a:ea typeface="Helvetica Neue"/>
                <a:cs typeface="Helvetica Neue"/>
              </a:rPr>
              <a:t>deepchemdata.s3-us-west-1.amazonaws.com/datasets/tox21.csv.gz</a:t>
            </a:r>
          </a:p>
        </p:txBody>
      </p:sp>
      <p:sp>
        <p:nvSpPr>
          <p:cNvPr id="18" name="">
            <a:extLst xmlns:a="http://schemas.openxmlformats.org/drawingml/2006/main">
              <a:ext uri="{FF2B5EF4-FFF2-40B4-BE49-F238E27FC236}">
                <a16:creationId xmlns:a16="http://schemas.microsoft.com/office/drawing/2014/main" id="{9172212A-8692-43C9-B6DA-B59F357D11AD}"/>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0597324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2026-09-30T15:46:13.5980000Z</dcterms:created>
  <dcterms:modified xsi:type="dcterms:W3CDTF">2026-09-30T15:46:13.5980000Z</dcterms:modified>
</coreProperties>
</file>